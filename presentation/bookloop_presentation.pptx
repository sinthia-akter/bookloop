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64" r:id="rId5"/>
    <p:sldId id="260" r:id="rId6"/>
    <p:sldId id="261" r:id="rId7"/>
    <p:sldId id="262" r:id="rId8"/>
    <p:sldId id="263" r:id="rId9"/>
    <p:sldId id="266" r:id="rId10"/>
  </p:sldIdLst>
  <p:sldSz cx="14630400" cy="8229600"/>
  <p:notesSz cx="8229600" cy="14630400"/>
  <p:embeddedFontLst>
    <p:embeddedFont>
      <p:font typeface="Calibri" panose="020F0502020204030204" pitchFamily="34" charset="0"/>
      <p:regular r:id="rId12"/>
      <p:bold r:id="rId13"/>
      <p:italic r:id="rId14"/>
      <p:boldItalic r:id="rId15"/>
    </p:embeddedFont>
    <p:embeddedFont>
      <p:font typeface="Lato" panose="020F0502020204030203" pitchFamily="34" charset="0"/>
      <p:regular r:id="rId16"/>
      <p:bold r:id="rId17"/>
      <p:italic r:id="rId18"/>
      <p:boldItalic r:id="rId19"/>
    </p:embeddedFont>
    <p:embeddedFont>
      <p:font typeface="Lato Bold" panose="020F0502020204030203" pitchFamily="34" charset="0"/>
      <p:bold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9278"/>
    <a:srgbClr val="4939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6" d="100"/>
          <a:sy n="56" d="100"/>
        </p:scale>
        <p:origin x="62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2236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extLst>
      <p:ext uri="{BB962C8B-B14F-4D97-AF65-F5344CB8AC3E}">
        <p14:creationId xmlns:p14="http://schemas.microsoft.com/office/powerpoint/2010/main" val="1713550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3406021"/>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B09278"/>
                </a:solidFill>
                <a:latin typeface="Lato Bold" pitchFamily="34" charset="0"/>
                <a:ea typeface="Lato Bold" pitchFamily="34" charset="-122"/>
                <a:cs typeface="Lato Bold" pitchFamily="34" charset="-120"/>
              </a:rPr>
              <a:t>BookLoop – Thrift Bookstore Management System</a:t>
            </a:r>
            <a:endParaRPr lang="en-US" sz="4450" dirty="0">
              <a:solidFill>
                <a:srgbClr val="B09278"/>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73073" y="634722"/>
            <a:ext cx="5522357" cy="690205"/>
          </a:xfrm>
          <a:prstGeom prst="rect">
            <a:avLst/>
          </a:prstGeom>
          <a:noFill/>
          <a:ln/>
        </p:spPr>
        <p:txBody>
          <a:bodyPr wrap="none" lIns="0" tIns="0" rIns="0" bIns="0" rtlCol="0" anchor="t"/>
          <a:lstStyle/>
          <a:p>
            <a:pPr marL="0" indent="0" algn="l">
              <a:lnSpc>
                <a:spcPts val="5400"/>
              </a:lnSpc>
              <a:buNone/>
            </a:pPr>
            <a:r>
              <a:rPr lang="en-US" sz="4300" b="1" dirty="0">
                <a:solidFill>
                  <a:schemeClr val="tx1">
                    <a:lumMod val="65000"/>
                    <a:lumOff val="35000"/>
                  </a:schemeClr>
                </a:solidFill>
                <a:latin typeface="Lato Bold" pitchFamily="34" charset="0"/>
                <a:ea typeface="Lato Bold" pitchFamily="34" charset="-122"/>
                <a:cs typeface="Lato Bold" pitchFamily="34" charset="-120"/>
              </a:rPr>
              <a:t>System Squad</a:t>
            </a:r>
            <a:endParaRPr lang="en-US" sz="4300" dirty="0">
              <a:solidFill>
                <a:schemeClr val="tx1">
                  <a:lumMod val="65000"/>
                  <a:lumOff val="35000"/>
                </a:schemeClr>
              </a:solidFill>
            </a:endParaRPr>
          </a:p>
        </p:txBody>
      </p:sp>
      <p:sp>
        <p:nvSpPr>
          <p:cNvPr id="4" name="Shape 1"/>
          <p:cNvSpPr/>
          <p:nvPr/>
        </p:nvSpPr>
        <p:spPr>
          <a:xfrm>
            <a:off x="773073" y="1647587"/>
            <a:ext cx="7597854" cy="1325523"/>
          </a:xfrm>
          <a:prstGeom prst="roundRect">
            <a:avLst>
              <a:gd name="adj" fmla="val 11037"/>
            </a:avLst>
          </a:prstGeom>
          <a:solidFill>
            <a:srgbClr val="EFECE6"/>
          </a:solidFill>
          <a:ln w="30480">
            <a:solidFill>
              <a:srgbClr val="CBC5B8"/>
            </a:solidFill>
            <a:prstDash val="solid"/>
          </a:ln>
        </p:spPr>
      </p:sp>
      <p:sp>
        <p:nvSpPr>
          <p:cNvPr id="5" name="Shape 2"/>
          <p:cNvSpPr/>
          <p:nvPr/>
        </p:nvSpPr>
        <p:spPr>
          <a:xfrm>
            <a:off x="742593" y="1647587"/>
            <a:ext cx="121920" cy="1325523"/>
          </a:xfrm>
          <a:prstGeom prst="roundRect">
            <a:avLst>
              <a:gd name="adj" fmla="val 27177"/>
            </a:avLst>
          </a:prstGeom>
          <a:solidFill>
            <a:srgbClr val="282824"/>
          </a:solidFill>
          <a:ln/>
        </p:spPr>
      </p:sp>
      <p:sp>
        <p:nvSpPr>
          <p:cNvPr id="6" name="Text 3"/>
          <p:cNvSpPr/>
          <p:nvPr/>
        </p:nvSpPr>
        <p:spPr>
          <a:xfrm>
            <a:off x="1115854" y="1898928"/>
            <a:ext cx="2761178" cy="345043"/>
          </a:xfrm>
          <a:prstGeom prst="rect">
            <a:avLst/>
          </a:prstGeom>
          <a:noFill/>
          <a:ln/>
        </p:spPr>
        <p:txBody>
          <a:bodyPr wrap="none" lIns="0" tIns="0" rIns="0" bIns="0" rtlCol="0" anchor="t"/>
          <a:lstStyle/>
          <a:p>
            <a:pPr marL="0" indent="0" algn="l">
              <a:lnSpc>
                <a:spcPts val="2700"/>
              </a:lnSpc>
              <a:buNone/>
            </a:pPr>
            <a:r>
              <a:rPr lang="en-US" sz="2150" b="1" dirty="0">
                <a:solidFill>
                  <a:srgbClr val="4A4A45"/>
                </a:solidFill>
                <a:latin typeface="Lato Bold" pitchFamily="34" charset="0"/>
                <a:ea typeface="Lato Bold" pitchFamily="34" charset="-122"/>
                <a:cs typeface="Lato Bold" pitchFamily="34" charset="-120"/>
              </a:rPr>
              <a:t>Samiha Tasnim</a:t>
            </a:r>
            <a:endParaRPr lang="en-US" sz="2150" dirty="0"/>
          </a:p>
        </p:txBody>
      </p:sp>
      <p:sp>
        <p:nvSpPr>
          <p:cNvPr id="7" name="Text 4"/>
          <p:cNvSpPr/>
          <p:nvPr/>
        </p:nvSpPr>
        <p:spPr>
          <a:xfrm>
            <a:off x="1115854" y="2373035"/>
            <a:ext cx="7003733" cy="348734"/>
          </a:xfrm>
          <a:prstGeom prst="rect">
            <a:avLst/>
          </a:prstGeom>
          <a:noFill/>
          <a:ln/>
        </p:spPr>
        <p:txBody>
          <a:bodyPr wrap="none" lIns="0" tIns="0" rIns="0" bIns="0" rtlCol="0" anchor="t"/>
          <a:lstStyle/>
          <a:p>
            <a:pPr marL="0" indent="0" algn="l">
              <a:lnSpc>
                <a:spcPts val="2700"/>
              </a:lnSpc>
              <a:buNone/>
            </a:pPr>
            <a:r>
              <a:rPr lang="en-US" sz="1700" dirty="0">
                <a:solidFill>
                  <a:srgbClr val="4A4A45"/>
                </a:solidFill>
                <a:latin typeface="Lato" pitchFamily="34" charset="0"/>
                <a:ea typeface="Lato" pitchFamily="34" charset="-122"/>
                <a:cs typeface="Lato" pitchFamily="34" charset="-120"/>
              </a:rPr>
              <a:t>ID: 04324205101174</a:t>
            </a:r>
            <a:endParaRPr lang="en-US" sz="1700" dirty="0"/>
          </a:p>
        </p:txBody>
      </p:sp>
      <p:sp>
        <p:nvSpPr>
          <p:cNvPr id="8" name="Shape 5"/>
          <p:cNvSpPr/>
          <p:nvPr/>
        </p:nvSpPr>
        <p:spPr>
          <a:xfrm>
            <a:off x="773073" y="3188137"/>
            <a:ext cx="7597854" cy="1325523"/>
          </a:xfrm>
          <a:prstGeom prst="roundRect">
            <a:avLst>
              <a:gd name="adj" fmla="val 11037"/>
            </a:avLst>
          </a:prstGeom>
          <a:solidFill>
            <a:srgbClr val="EFECE6"/>
          </a:solidFill>
          <a:ln w="30480">
            <a:solidFill>
              <a:srgbClr val="CBC5B8"/>
            </a:solidFill>
            <a:prstDash val="solid"/>
          </a:ln>
        </p:spPr>
      </p:sp>
      <p:sp>
        <p:nvSpPr>
          <p:cNvPr id="9" name="Shape 6"/>
          <p:cNvSpPr/>
          <p:nvPr/>
        </p:nvSpPr>
        <p:spPr>
          <a:xfrm>
            <a:off x="742593" y="3188137"/>
            <a:ext cx="121920" cy="1325523"/>
          </a:xfrm>
          <a:prstGeom prst="roundRect">
            <a:avLst>
              <a:gd name="adj" fmla="val 27177"/>
            </a:avLst>
          </a:prstGeom>
          <a:solidFill>
            <a:srgbClr val="282824"/>
          </a:solidFill>
          <a:ln/>
        </p:spPr>
      </p:sp>
      <p:sp>
        <p:nvSpPr>
          <p:cNvPr id="10" name="Text 7"/>
          <p:cNvSpPr/>
          <p:nvPr/>
        </p:nvSpPr>
        <p:spPr>
          <a:xfrm>
            <a:off x="1115854" y="3439478"/>
            <a:ext cx="2761178" cy="345043"/>
          </a:xfrm>
          <a:prstGeom prst="rect">
            <a:avLst/>
          </a:prstGeom>
          <a:noFill/>
          <a:ln/>
        </p:spPr>
        <p:txBody>
          <a:bodyPr wrap="none" lIns="0" tIns="0" rIns="0" bIns="0" rtlCol="0" anchor="t"/>
          <a:lstStyle/>
          <a:p>
            <a:pPr marL="0" indent="0" algn="l">
              <a:lnSpc>
                <a:spcPts val="2700"/>
              </a:lnSpc>
              <a:buNone/>
            </a:pPr>
            <a:r>
              <a:rPr lang="en-US" sz="2150" b="1" dirty="0">
                <a:solidFill>
                  <a:srgbClr val="4A4A45"/>
                </a:solidFill>
                <a:latin typeface="Lato Bold" pitchFamily="34" charset="0"/>
                <a:ea typeface="Lato Bold" pitchFamily="34" charset="-122"/>
                <a:cs typeface="Lato Bold" pitchFamily="34" charset="-120"/>
              </a:rPr>
              <a:t>Samina Akter Lima</a:t>
            </a:r>
            <a:endParaRPr lang="en-US" sz="2150" dirty="0"/>
          </a:p>
        </p:txBody>
      </p:sp>
      <p:sp>
        <p:nvSpPr>
          <p:cNvPr id="11" name="Text 8"/>
          <p:cNvSpPr/>
          <p:nvPr/>
        </p:nvSpPr>
        <p:spPr>
          <a:xfrm>
            <a:off x="1115854" y="3913584"/>
            <a:ext cx="7003733" cy="348734"/>
          </a:xfrm>
          <a:prstGeom prst="rect">
            <a:avLst/>
          </a:prstGeom>
          <a:noFill/>
          <a:ln/>
        </p:spPr>
        <p:txBody>
          <a:bodyPr wrap="none" lIns="0" tIns="0" rIns="0" bIns="0" rtlCol="0" anchor="t"/>
          <a:lstStyle/>
          <a:p>
            <a:pPr marL="0" indent="0" algn="l">
              <a:lnSpc>
                <a:spcPts val="2700"/>
              </a:lnSpc>
              <a:buNone/>
            </a:pPr>
            <a:r>
              <a:rPr lang="en-US" sz="1700" dirty="0">
                <a:solidFill>
                  <a:srgbClr val="4A4A45"/>
                </a:solidFill>
                <a:latin typeface="Lato" pitchFamily="34" charset="0"/>
                <a:ea typeface="Lato" pitchFamily="34" charset="-122"/>
                <a:cs typeface="Lato" pitchFamily="34" charset="-120"/>
              </a:rPr>
              <a:t>ID: 0432420510198</a:t>
            </a:r>
            <a:endParaRPr lang="en-US" sz="1700" dirty="0"/>
          </a:p>
        </p:txBody>
      </p:sp>
      <p:sp>
        <p:nvSpPr>
          <p:cNvPr id="12" name="Shape 9"/>
          <p:cNvSpPr/>
          <p:nvPr/>
        </p:nvSpPr>
        <p:spPr>
          <a:xfrm>
            <a:off x="773073" y="4728686"/>
            <a:ext cx="7597854" cy="1325523"/>
          </a:xfrm>
          <a:prstGeom prst="roundRect">
            <a:avLst>
              <a:gd name="adj" fmla="val 11037"/>
            </a:avLst>
          </a:prstGeom>
          <a:solidFill>
            <a:srgbClr val="EFECE6"/>
          </a:solidFill>
          <a:ln w="30480">
            <a:solidFill>
              <a:srgbClr val="CBC5B8"/>
            </a:solidFill>
            <a:prstDash val="solid"/>
          </a:ln>
        </p:spPr>
      </p:sp>
      <p:sp>
        <p:nvSpPr>
          <p:cNvPr id="13" name="Shape 10"/>
          <p:cNvSpPr/>
          <p:nvPr/>
        </p:nvSpPr>
        <p:spPr>
          <a:xfrm>
            <a:off x="742593" y="4728686"/>
            <a:ext cx="121920" cy="1325523"/>
          </a:xfrm>
          <a:prstGeom prst="roundRect">
            <a:avLst>
              <a:gd name="adj" fmla="val 27177"/>
            </a:avLst>
          </a:prstGeom>
          <a:solidFill>
            <a:srgbClr val="282824"/>
          </a:solidFill>
          <a:ln/>
        </p:spPr>
      </p:sp>
      <p:sp>
        <p:nvSpPr>
          <p:cNvPr id="14" name="Text 11"/>
          <p:cNvSpPr/>
          <p:nvPr/>
        </p:nvSpPr>
        <p:spPr>
          <a:xfrm>
            <a:off x="1115854" y="4980027"/>
            <a:ext cx="2761178" cy="345043"/>
          </a:xfrm>
          <a:prstGeom prst="rect">
            <a:avLst/>
          </a:prstGeom>
          <a:noFill/>
          <a:ln/>
        </p:spPr>
        <p:txBody>
          <a:bodyPr wrap="none" lIns="0" tIns="0" rIns="0" bIns="0" rtlCol="0" anchor="t"/>
          <a:lstStyle/>
          <a:p>
            <a:pPr marL="0" indent="0" algn="l">
              <a:lnSpc>
                <a:spcPts val="2700"/>
              </a:lnSpc>
              <a:buNone/>
            </a:pPr>
            <a:r>
              <a:rPr lang="en-US" sz="2150" b="1" dirty="0">
                <a:solidFill>
                  <a:srgbClr val="4A4A45"/>
                </a:solidFill>
                <a:latin typeface="Lato Bold" pitchFamily="34" charset="0"/>
                <a:ea typeface="Lato Bold" pitchFamily="34" charset="-122"/>
                <a:cs typeface="Lato Bold" pitchFamily="34" charset="-120"/>
              </a:rPr>
              <a:t>Samina Akter Sinthia</a:t>
            </a:r>
            <a:endParaRPr lang="en-US" sz="2150" dirty="0"/>
          </a:p>
        </p:txBody>
      </p:sp>
      <p:sp>
        <p:nvSpPr>
          <p:cNvPr id="15" name="Text 12"/>
          <p:cNvSpPr/>
          <p:nvPr/>
        </p:nvSpPr>
        <p:spPr>
          <a:xfrm>
            <a:off x="1115854" y="5454134"/>
            <a:ext cx="7003733" cy="348734"/>
          </a:xfrm>
          <a:prstGeom prst="rect">
            <a:avLst/>
          </a:prstGeom>
          <a:noFill/>
          <a:ln/>
        </p:spPr>
        <p:txBody>
          <a:bodyPr wrap="none" lIns="0" tIns="0" rIns="0" bIns="0" rtlCol="0" anchor="t"/>
          <a:lstStyle/>
          <a:p>
            <a:pPr marL="0" indent="0" algn="l">
              <a:lnSpc>
                <a:spcPts val="2700"/>
              </a:lnSpc>
              <a:buNone/>
            </a:pPr>
            <a:r>
              <a:rPr lang="en-US" sz="1700" dirty="0">
                <a:solidFill>
                  <a:srgbClr val="4A4A45"/>
                </a:solidFill>
                <a:latin typeface="Lato" pitchFamily="34" charset="0"/>
                <a:ea typeface="Lato" pitchFamily="34" charset="-122"/>
                <a:cs typeface="Lato" pitchFamily="34" charset="-120"/>
              </a:rPr>
              <a:t>ID: 0432420510202</a:t>
            </a:r>
            <a:endParaRPr lang="en-US" sz="1700" dirty="0"/>
          </a:p>
        </p:txBody>
      </p:sp>
      <p:sp>
        <p:nvSpPr>
          <p:cNvPr id="16" name="Shape 13"/>
          <p:cNvSpPr/>
          <p:nvPr/>
        </p:nvSpPr>
        <p:spPr>
          <a:xfrm>
            <a:off x="773073" y="6269236"/>
            <a:ext cx="7597854" cy="1325523"/>
          </a:xfrm>
          <a:prstGeom prst="roundRect">
            <a:avLst>
              <a:gd name="adj" fmla="val 11037"/>
            </a:avLst>
          </a:prstGeom>
          <a:solidFill>
            <a:srgbClr val="EFECE6"/>
          </a:solidFill>
          <a:ln w="30480">
            <a:solidFill>
              <a:srgbClr val="CBC5B8"/>
            </a:solidFill>
            <a:prstDash val="solid"/>
          </a:ln>
        </p:spPr>
      </p:sp>
      <p:sp>
        <p:nvSpPr>
          <p:cNvPr id="17" name="Shape 14"/>
          <p:cNvSpPr/>
          <p:nvPr/>
        </p:nvSpPr>
        <p:spPr>
          <a:xfrm>
            <a:off x="742593" y="6269236"/>
            <a:ext cx="121920" cy="1325523"/>
          </a:xfrm>
          <a:prstGeom prst="roundRect">
            <a:avLst>
              <a:gd name="adj" fmla="val 27177"/>
            </a:avLst>
          </a:prstGeom>
          <a:solidFill>
            <a:srgbClr val="282824"/>
          </a:solidFill>
          <a:ln/>
        </p:spPr>
      </p:sp>
      <p:sp>
        <p:nvSpPr>
          <p:cNvPr id="18" name="Text 15"/>
          <p:cNvSpPr/>
          <p:nvPr/>
        </p:nvSpPr>
        <p:spPr>
          <a:xfrm>
            <a:off x="1115854" y="6520577"/>
            <a:ext cx="2761178" cy="345043"/>
          </a:xfrm>
          <a:prstGeom prst="rect">
            <a:avLst/>
          </a:prstGeom>
          <a:noFill/>
          <a:ln/>
        </p:spPr>
        <p:txBody>
          <a:bodyPr wrap="none" lIns="0" tIns="0" rIns="0" bIns="0" rtlCol="0" anchor="t"/>
          <a:lstStyle/>
          <a:p>
            <a:pPr marL="0" indent="0" algn="l">
              <a:lnSpc>
                <a:spcPts val="2700"/>
              </a:lnSpc>
              <a:buNone/>
            </a:pPr>
            <a:r>
              <a:rPr lang="en-US" sz="2150" b="1" dirty="0">
                <a:solidFill>
                  <a:srgbClr val="4A4A45"/>
                </a:solidFill>
                <a:latin typeface="Lato Bold" pitchFamily="34" charset="0"/>
                <a:ea typeface="Lato Bold" pitchFamily="34" charset="-122"/>
                <a:cs typeface="Lato Bold" pitchFamily="34" charset="-120"/>
              </a:rPr>
              <a:t>Sumaiya Jannat</a:t>
            </a:r>
            <a:endParaRPr lang="en-US" sz="2150" dirty="0"/>
          </a:p>
        </p:txBody>
      </p:sp>
      <p:sp>
        <p:nvSpPr>
          <p:cNvPr id="19" name="Text 16"/>
          <p:cNvSpPr/>
          <p:nvPr/>
        </p:nvSpPr>
        <p:spPr>
          <a:xfrm>
            <a:off x="1115854" y="6994684"/>
            <a:ext cx="7003733" cy="348734"/>
          </a:xfrm>
          <a:prstGeom prst="rect">
            <a:avLst/>
          </a:prstGeom>
          <a:noFill/>
          <a:ln/>
        </p:spPr>
        <p:txBody>
          <a:bodyPr wrap="none" lIns="0" tIns="0" rIns="0" bIns="0" rtlCol="0" anchor="t"/>
          <a:lstStyle/>
          <a:p>
            <a:pPr marL="0" indent="0" algn="l">
              <a:lnSpc>
                <a:spcPts val="2700"/>
              </a:lnSpc>
              <a:buNone/>
            </a:pPr>
            <a:r>
              <a:rPr lang="en-US" sz="1700" dirty="0">
                <a:solidFill>
                  <a:srgbClr val="4A4A45"/>
                </a:solidFill>
                <a:latin typeface="Lato" pitchFamily="34" charset="0"/>
                <a:ea typeface="Lato" pitchFamily="34" charset="-122"/>
                <a:cs typeface="Lato" pitchFamily="34" charset="-120"/>
              </a:rPr>
              <a:t>ID: 0432420510212</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3170634"/>
            <a:ext cx="5670590" cy="708779"/>
          </a:xfrm>
          <a:prstGeom prst="rect">
            <a:avLst/>
          </a:prstGeom>
          <a:noFill/>
          <a:ln/>
        </p:spPr>
        <p:txBody>
          <a:bodyPr wrap="none" lIns="0" tIns="0" rIns="0" bIns="0" rtlCol="0" anchor="t"/>
          <a:lstStyle/>
          <a:p>
            <a:pPr marL="0" indent="0" algn="l">
              <a:lnSpc>
                <a:spcPts val="5550"/>
              </a:lnSpc>
              <a:buNone/>
            </a:pPr>
            <a:r>
              <a:rPr lang="en-US" sz="4450" b="1" dirty="0">
                <a:solidFill>
                  <a:schemeClr val="tx1">
                    <a:lumMod val="65000"/>
                    <a:lumOff val="35000"/>
                  </a:schemeClr>
                </a:solidFill>
                <a:latin typeface="Lato Bold" pitchFamily="34" charset="0"/>
                <a:ea typeface="Lato Bold" pitchFamily="34" charset="-122"/>
                <a:cs typeface="Lato Bold" pitchFamily="34" charset="-120"/>
              </a:rPr>
              <a:t>Project Objective</a:t>
            </a:r>
            <a:endParaRPr lang="en-US" sz="4450" dirty="0">
              <a:solidFill>
                <a:schemeClr val="tx1">
                  <a:lumMod val="65000"/>
                  <a:lumOff val="35000"/>
                </a:schemeClr>
              </a:solidFill>
            </a:endParaRPr>
          </a:p>
        </p:txBody>
      </p:sp>
      <p:sp>
        <p:nvSpPr>
          <p:cNvPr id="3" name="Text 1"/>
          <p:cNvSpPr/>
          <p:nvPr/>
        </p:nvSpPr>
        <p:spPr>
          <a:xfrm>
            <a:off x="793790" y="4333042"/>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The objective is to </a:t>
            </a:r>
            <a:r>
              <a:rPr lang="en-US" sz="1750" dirty="0">
                <a:solidFill>
                  <a:srgbClr val="282824"/>
                </a:solidFill>
                <a:latin typeface="Lato" pitchFamily="34" charset="0"/>
                <a:ea typeface="Lato" pitchFamily="34" charset="-122"/>
                <a:cs typeface="Lato" pitchFamily="34" charset="-120"/>
              </a:rPr>
              <a:t>design and develop a web-based platform</a:t>
            </a:r>
            <a:r>
              <a:rPr lang="en-US" sz="1750" dirty="0">
                <a:solidFill>
                  <a:srgbClr val="4A4A45"/>
                </a:solidFill>
                <a:latin typeface="Lato" pitchFamily="34" charset="0"/>
                <a:ea typeface="Lato" pitchFamily="34" charset="-122"/>
                <a:cs typeface="Lato" pitchFamily="34" charset="-120"/>
              </a:rPr>
              <a:t> that will be delivered to </a:t>
            </a:r>
            <a:r>
              <a:rPr lang="en-US" sz="1750" dirty="0">
                <a:solidFill>
                  <a:srgbClr val="282824"/>
                </a:solidFill>
                <a:latin typeface="Lato" pitchFamily="34" charset="0"/>
                <a:ea typeface="Lato" pitchFamily="34" charset="-122"/>
                <a:cs typeface="Lato" pitchFamily="34" charset="-120"/>
              </a:rPr>
              <a:t>thrift book shop owners</a:t>
            </a:r>
            <a:r>
              <a:rPr lang="en-US" sz="1750" dirty="0">
                <a:solidFill>
                  <a:srgbClr val="4A4A45"/>
                </a:solidFill>
                <a:latin typeface="Lato" pitchFamily="34" charset="0"/>
                <a:ea typeface="Lato" pitchFamily="34" charset="-122"/>
                <a:cs typeface="Lato" pitchFamily="34" charset="-120"/>
              </a:rPr>
              <a:t> for independent operation. The system enables </a:t>
            </a:r>
            <a:r>
              <a:rPr lang="en-US" sz="1750" dirty="0">
                <a:solidFill>
                  <a:srgbClr val="282824"/>
                </a:solidFill>
                <a:latin typeface="Lato" pitchFamily="34" charset="0"/>
                <a:ea typeface="Lato" pitchFamily="34" charset="-122"/>
                <a:cs typeface="Lato" pitchFamily="34" charset="-120"/>
              </a:rPr>
              <a:t>buying, selling, and exchanging old and second-hand books</a:t>
            </a:r>
            <a:r>
              <a:rPr lang="en-US" sz="1750" dirty="0">
                <a:solidFill>
                  <a:srgbClr val="4A4A45"/>
                </a:solidFill>
                <a:latin typeface="Lato" pitchFamily="34" charset="0"/>
                <a:ea typeface="Lato" pitchFamily="34" charset="-122"/>
                <a:cs typeface="Lato" pitchFamily="34" charset="-120"/>
              </a:rPr>
              <a:t> through an organized online interface.</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08660"/>
            <a:ext cx="5252680" cy="836057"/>
          </a:xfrm>
          <a:prstGeom prst="rect">
            <a:avLst/>
          </a:prstGeom>
          <a:noFill/>
          <a:ln/>
        </p:spPr>
        <p:txBody>
          <a:bodyPr wrap="none" lIns="0" tIns="0" rIns="0" bIns="0" rtlCol="0" anchor="ctr"/>
          <a:lstStyle/>
          <a:p>
            <a:pPr marL="0" indent="0" algn="l">
              <a:lnSpc>
                <a:spcPts val="2750"/>
              </a:lnSpc>
              <a:buNone/>
            </a:pPr>
            <a:r>
              <a:rPr lang="en-US" sz="4450" b="1" dirty="0">
                <a:solidFill>
                  <a:schemeClr val="tx1">
                    <a:lumMod val="65000"/>
                    <a:lumOff val="35000"/>
                  </a:schemeClr>
                </a:solidFill>
                <a:latin typeface="Lato Bold" pitchFamily="34" charset="0"/>
                <a:ea typeface="Lato Bold" pitchFamily="34" charset="-122"/>
                <a:cs typeface="Lato Bold" pitchFamily="34" charset="-120"/>
              </a:rPr>
              <a:t>Problem Statement</a:t>
            </a:r>
            <a:endParaRPr lang="en-US" sz="4450" dirty="0">
              <a:solidFill>
                <a:schemeClr val="tx1">
                  <a:lumMod val="65000"/>
                  <a:lumOff val="35000"/>
                </a:schemeClr>
              </a:solidFill>
            </a:endParaRPr>
          </a:p>
        </p:txBody>
      </p:sp>
      <p:sp>
        <p:nvSpPr>
          <p:cNvPr id="3" name="Shape 1"/>
          <p:cNvSpPr/>
          <p:nvPr/>
        </p:nvSpPr>
        <p:spPr>
          <a:xfrm>
            <a:off x="793790" y="1771531"/>
            <a:ext cx="4196358" cy="2456617"/>
          </a:xfrm>
          <a:prstGeom prst="roundRect">
            <a:avLst>
              <a:gd name="adj" fmla="val 5956"/>
            </a:avLst>
          </a:prstGeom>
          <a:solidFill>
            <a:srgbClr val="EFECE6"/>
          </a:solidFill>
          <a:ln w="30480">
            <a:solidFill>
              <a:srgbClr val="CBC5B8"/>
            </a:solidFill>
            <a:prstDash val="solid"/>
          </a:ln>
        </p:spPr>
      </p:sp>
      <p:sp>
        <p:nvSpPr>
          <p:cNvPr id="4" name="Shape 2"/>
          <p:cNvSpPr/>
          <p:nvPr/>
        </p:nvSpPr>
        <p:spPr>
          <a:xfrm>
            <a:off x="763310" y="1771531"/>
            <a:ext cx="121920" cy="2456617"/>
          </a:xfrm>
          <a:prstGeom prst="roundRect">
            <a:avLst>
              <a:gd name="adj" fmla="val 27907"/>
            </a:avLst>
          </a:prstGeom>
          <a:solidFill>
            <a:srgbClr val="282824"/>
          </a:solidFill>
          <a:ln/>
        </p:spPr>
      </p:sp>
      <p:sp>
        <p:nvSpPr>
          <p:cNvPr id="5" name="Text 3"/>
          <p:cNvSpPr/>
          <p:nvPr/>
        </p:nvSpPr>
        <p:spPr>
          <a:xfrm>
            <a:off x="1142524" y="2028825"/>
            <a:ext cx="3025021" cy="354330"/>
          </a:xfrm>
          <a:prstGeom prst="rect">
            <a:avLst/>
          </a:prstGeom>
          <a:noFill/>
          <a:ln/>
        </p:spPr>
        <p:txBody>
          <a:bodyPr wrap="none" lIns="0" tIns="0" rIns="0" bIns="0" rtlCol="0" anchor="t"/>
          <a:lstStyle/>
          <a:p>
            <a:pPr marL="0" indent="0" algn="l">
              <a:lnSpc>
                <a:spcPts val="2750"/>
              </a:lnSpc>
              <a:buNone/>
            </a:pPr>
            <a:r>
              <a:rPr lang="en-US" sz="2200" b="1" dirty="0">
                <a:solidFill>
                  <a:schemeClr val="tx1">
                    <a:lumMod val="75000"/>
                    <a:lumOff val="25000"/>
                  </a:schemeClr>
                </a:solidFill>
                <a:latin typeface="Lato Bold" pitchFamily="34" charset="0"/>
                <a:ea typeface="Lato Bold" pitchFamily="34" charset="-122"/>
                <a:cs typeface="Lato Bold" pitchFamily="34" charset="-120"/>
              </a:rPr>
              <a:t>Lack of Digital Presence</a:t>
            </a:r>
            <a:endParaRPr lang="en-US" sz="2200" dirty="0">
              <a:solidFill>
                <a:schemeClr val="tx1">
                  <a:lumMod val="75000"/>
                  <a:lumOff val="25000"/>
                </a:schemeClr>
              </a:solidFill>
            </a:endParaRPr>
          </a:p>
        </p:txBody>
      </p:sp>
      <p:sp>
        <p:nvSpPr>
          <p:cNvPr id="6" name="Text 4"/>
          <p:cNvSpPr/>
          <p:nvPr/>
        </p:nvSpPr>
        <p:spPr>
          <a:xfrm>
            <a:off x="1142524" y="2519243"/>
            <a:ext cx="3590330" cy="1451610"/>
          </a:xfrm>
          <a:prstGeom prst="rect">
            <a:avLst/>
          </a:prstGeom>
          <a:noFill/>
          <a:ln/>
        </p:spPr>
        <p:txBody>
          <a:bodyPr wrap="square" lIns="0" tIns="0" rIns="0" bIns="0" rtlCol="0" anchor="t"/>
          <a:lstStyle/>
          <a:p>
            <a:pPr>
              <a:lnSpc>
                <a:spcPct val="150000"/>
              </a:lnSpc>
            </a:pPr>
            <a:r>
              <a:rPr lang="en-US" sz="1750" dirty="0">
                <a:solidFill>
                  <a:schemeClr val="bg2">
                    <a:lumMod val="25000"/>
                  </a:schemeClr>
                </a:solidFill>
                <a:latin typeface="Lato" panose="020F0502020204030203" pitchFamily="34" charset="0"/>
                <a:ea typeface="Lato" panose="020F0502020204030203" pitchFamily="34" charset="0"/>
                <a:cs typeface="Lato" panose="020F0502020204030203" pitchFamily="34" charset="0"/>
              </a:rPr>
              <a:t>Small bookstores and individual sellers lack affordable digital platforms to manage inventory and reach wider audiences.</a:t>
            </a:r>
          </a:p>
          <a:p>
            <a:pPr marL="0" indent="0" algn="l">
              <a:lnSpc>
                <a:spcPct val="150000"/>
              </a:lnSpc>
              <a:buNone/>
            </a:pPr>
            <a:endParaRPr lang="en-US" sz="1750" dirty="0">
              <a:solidFill>
                <a:schemeClr val="bg2">
                  <a:lumMod val="25000"/>
                </a:schemeClr>
              </a:solidFill>
              <a:latin typeface="Lato" panose="020F0502020204030203" pitchFamily="34" charset="0"/>
              <a:ea typeface="Lato" panose="020F0502020204030203" pitchFamily="34" charset="0"/>
              <a:cs typeface="Lato" panose="020F0502020204030203" pitchFamily="34" charset="0"/>
            </a:endParaRPr>
          </a:p>
        </p:txBody>
      </p:sp>
      <p:sp>
        <p:nvSpPr>
          <p:cNvPr id="7" name="Shape 5"/>
          <p:cNvSpPr/>
          <p:nvPr/>
        </p:nvSpPr>
        <p:spPr>
          <a:xfrm>
            <a:off x="5216962" y="1771531"/>
            <a:ext cx="4196358" cy="2456617"/>
          </a:xfrm>
          <a:prstGeom prst="roundRect">
            <a:avLst>
              <a:gd name="adj" fmla="val 5956"/>
            </a:avLst>
          </a:prstGeom>
          <a:solidFill>
            <a:srgbClr val="EFECE6"/>
          </a:solidFill>
          <a:ln w="30480">
            <a:solidFill>
              <a:srgbClr val="CBC5B8"/>
            </a:solidFill>
            <a:prstDash val="solid"/>
          </a:ln>
        </p:spPr>
      </p:sp>
      <p:sp>
        <p:nvSpPr>
          <p:cNvPr id="8" name="Shape 6"/>
          <p:cNvSpPr/>
          <p:nvPr/>
        </p:nvSpPr>
        <p:spPr>
          <a:xfrm>
            <a:off x="5186482" y="1771531"/>
            <a:ext cx="121920" cy="2456617"/>
          </a:xfrm>
          <a:prstGeom prst="roundRect">
            <a:avLst>
              <a:gd name="adj" fmla="val 27907"/>
            </a:avLst>
          </a:prstGeom>
          <a:solidFill>
            <a:srgbClr val="282824"/>
          </a:solidFill>
          <a:ln/>
        </p:spPr>
      </p:sp>
      <p:sp>
        <p:nvSpPr>
          <p:cNvPr id="9" name="Text 7"/>
          <p:cNvSpPr/>
          <p:nvPr/>
        </p:nvSpPr>
        <p:spPr>
          <a:xfrm>
            <a:off x="5565696" y="2028825"/>
            <a:ext cx="3539847" cy="354330"/>
          </a:xfrm>
          <a:prstGeom prst="rect">
            <a:avLst/>
          </a:prstGeom>
          <a:noFill/>
          <a:ln/>
        </p:spPr>
        <p:txBody>
          <a:bodyPr wrap="none" lIns="0" tIns="0" rIns="0" bIns="0" rtlCol="0" anchor="t"/>
          <a:lstStyle/>
          <a:p>
            <a:r>
              <a:rPr lang="en-US" sz="2200" dirty="0">
                <a:solidFill>
                  <a:schemeClr val="tx1">
                    <a:lumMod val="75000"/>
                    <a:lumOff val="25000"/>
                  </a:schemeClr>
                </a:solidFill>
                <a:latin typeface="Lato Bold" panose="020F0502020204030203" charset="0"/>
                <a:ea typeface="Lato Bold" panose="020F0502020204030203" charset="0"/>
                <a:cs typeface="Lato Bold" panose="020F0502020204030203" charset="0"/>
              </a:rPr>
              <a:t>Lack of Transaction Security</a:t>
            </a:r>
          </a:p>
        </p:txBody>
      </p:sp>
      <p:sp>
        <p:nvSpPr>
          <p:cNvPr id="10" name="Text 8"/>
          <p:cNvSpPr/>
          <p:nvPr/>
        </p:nvSpPr>
        <p:spPr>
          <a:xfrm>
            <a:off x="5565696" y="2519242"/>
            <a:ext cx="3590330" cy="1595557"/>
          </a:xfrm>
          <a:prstGeom prst="rect">
            <a:avLst/>
          </a:prstGeom>
          <a:noFill/>
          <a:ln/>
        </p:spPr>
        <p:txBody>
          <a:bodyPr wrap="square" lIns="0" tIns="0" rIns="0" bIns="0" rtlCol="0" anchor="t"/>
          <a:lstStyle/>
          <a:p>
            <a:pPr>
              <a:lnSpc>
                <a:spcPct val="150000"/>
              </a:lnSpc>
              <a:defRPr sz="2000"/>
            </a:pPr>
            <a:r>
              <a:rPr lang="en-US" sz="1750" dirty="0">
                <a:solidFill>
                  <a:schemeClr val="tx1">
                    <a:lumMod val="75000"/>
                    <a:lumOff val="25000"/>
                  </a:schemeClr>
                </a:solidFill>
                <a:latin typeface="Lato" panose="020F0502020204030203" pitchFamily="34" charset="0"/>
                <a:ea typeface="Lato" panose="020F0502020204030203" pitchFamily="34" charset="0"/>
                <a:cs typeface="Lato" panose="020F0502020204030203" pitchFamily="34" charset="0"/>
              </a:rPr>
              <a:t>There is no centralized system that ensures trust, transparency, and authenticity in second‑hand book transactions.</a:t>
            </a:r>
          </a:p>
        </p:txBody>
      </p:sp>
      <p:sp>
        <p:nvSpPr>
          <p:cNvPr id="11" name="Shape 9"/>
          <p:cNvSpPr/>
          <p:nvPr/>
        </p:nvSpPr>
        <p:spPr>
          <a:xfrm>
            <a:off x="9640133" y="1771531"/>
            <a:ext cx="4196358" cy="2456617"/>
          </a:xfrm>
          <a:prstGeom prst="roundRect">
            <a:avLst>
              <a:gd name="adj" fmla="val 5956"/>
            </a:avLst>
          </a:prstGeom>
          <a:solidFill>
            <a:srgbClr val="EFECE6"/>
          </a:solidFill>
          <a:ln w="30480">
            <a:solidFill>
              <a:srgbClr val="CBC5B8"/>
            </a:solidFill>
            <a:prstDash val="solid"/>
          </a:ln>
        </p:spPr>
      </p:sp>
      <p:sp>
        <p:nvSpPr>
          <p:cNvPr id="12" name="Shape 10"/>
          <p:cNvSpPr/>
          <p:nvPr/>
        </p:nvSpPr>
        <p:spPr>
          <a:xfrm>
            <a:off x="9609653" y="1771531"/>
            <a:ext cx="121920" cy="2456617"/>
          </a:xfrm>
          <a:prstGeom prst="roundRect">
            <a:avLst>
              <a:gd name="adj" fmla="val 27907"/>
            </a:avLst>
          </a:prstGeom>
          <a:solidFill>
            <a:srgbClr val="282824"/>
          </a:solidFill>
          <a:ln/>
        </p:spPr>
      </p:sp>
      <p:sp>
        <p:nvSpPr>
          <p:cNvPr id="13" name="Text 11"/>
          <p:cNvSpPr/>
          <p:nvPr/>
        </p:nvSpPr>
        <p:spPr>
          <a:xfrm>
            <a:off x="9988868" y="2028825"/>
            <a:ext cx="3039308"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High Cost of New Books</a:t>
            </a:r>
            <a:endParaRPr lang="en-US" sz="2200" dirty="0"/>
          </a:p>
        </p:txBody>
      </p:sp>
      <p:sp>
        <p:nvSpPr>
          <p:cNvPr id="14" name="Text 12"/>
          <p:cNvSpPr/>
          <p:nvPr/>
        </p:nvSpPr>
        <p:spPr>
          <a:xfrm>
            <a:off x="9988868" y="2519243"/>
            <a:ext cx="3590330" cy="1088708"/>
          </a:xfrm>
          <a:prstGeom prst="rect">
            <a:avLst/>
          </a:prstGeom>
          <a:noFill/>
          <a:ln/>
        </p:spPr>
        <p:txBody>
          <a:bodyPr wrap="square" lIns="0" tIns="0" rIns="0" bIns="0" rtlCol="0" anchor="t"/>
          <a:lstStyle/>
          <a:p>
            <a:pPr marL="0" indent="0" algn="l">
              <a:lnSpc>
                <a:spcPct val="150000"/>
              </a:lnSpc>
              <a:buNone/>
            </a:pPr>
            <a:r>
              <a:rPr lang="en-US" sz="1750" dirty="0">
                <a:solidFill>
                  <a:srgbClr val="4A4A45"/>
                </a:solidFill>
                <a:latin typeface="Lato" panose="020F0502020204030203" pitchFamily="34" charset="0"/>
                <a:ea typeface="Lato" panose="020F0502020204030203" pitchFamily="34" charset="0"/>
                <a:cs typeface="Lato" panose="020F0502020204030203" pitchFamily="34" charset="0"/>
              </a:rPr>
              <a:t>Students and readers face difficulty in purchasing affordable books due to the high cost of new books.</a:t>
            </a:r>
            <a:endParaRPr lang="en-US" sz="1750" dirty="0">
              <a:latin typeface="Lato" panose="020F0502020204030203" pitchFamily="34" charset="0"/>
              <a:ea typeface="Lato" panose="020F0502020204030203" pitchFamily="34" charset="0"/>
              <a:cs typeface="Lato" panose="020F0502020204030203" pitchFamily="34" charset="0"/>
            </a:endParaRPr>
          </a:p>
        </p:txBody>
      </p:sp>
      <p:sp>
        <p:nvSpPr>
          <p:cNvPr id="15" name="Shape 13"/>
          <p:cNvSpPr/>
          <p:nvPr/>
        </p:nvSpPr>
        <p:spPr>
          <a:xfrm>
            <a:off x="793790" y="4454962"/>
            <a:ext cx="4196358" cy="2810947"/>
          </a:xfrm>
          <a:prstGeom prst="roundRect">
            <a:avLst>
              <a:gd name="adj" fmla="val 5205"/>
            </a:avLst>
          </a:prstGeom>
          <a:solidFill>
            <a:srgbClr val="EFECE6"/>
          </a:solidFill>
          <a:ln w="30480">
            <a:solidFill>
              <a:srgbClr val="CBC5B8"/>
            </a:solidFill>
            <a:prstDash val="solid"/>
          </a:ln>
        </p:spPr>
      </p:sp>
      <p:sp>
        <p:nvSpPr>
          <p:cNvPr id="16" name="Shape 14"/>
          <p:cNvSpPr/>
          <p:nvPr/>
        </p:nvSpPr>
        <p:spPr>
          <a:xfrm>
            <a:off x="763310" y="4454962"/>
            <a:ext cx="121920" cy="2810947"/>
          </a:xfrm>
          <a:prstGeom prst="roundRect">
            <a:avLst>
              <a:gd name="adj" fmla="val 27907"/>
            </a:avLst>
          </a:prstGeom>
          <a:solidFill>
            <a:srgbClr val="282824"/>
          </a:solidFill>
          <a:ln/>
        </p:spPr>
      </p:sp>
      <p:sp>
        <p:nvSpPr>
          <p:cNvPr id="17" name="Text 15"/>
          <p:cNvSpPr/>
          <p:nvPr/>
        </p:nvSpPr>
        <p:spPr>
          <a:xfrm>
            <a:off x="1142524" y="4712256"/>
            <a:ext cx="3590330" cy="708660"/>
          </a:xfrm>
          <a:prstGeom prst="rect">
            <a:avLst/>
          </a:prstGeom>
          <a:noFill/>
          <a:ln/>
        </p:spPr>
        <p:txBody>
          <a:bodyPr wrap="square" lIns="0" tIns="0" rIns="0" bIns="0" rtlCol="0" anchor="t"/>
          <a:lstStyle/>
          <a:p>
            <a:pPr marL="0" indent="0" algn="l">
              <a:lnSpc>
                <a:spcPts val="2750"/>
              </a:lnSpc>
              <a:buNone/>
            </a:pPr>
            <a:r>
              <a:rPr lang="en-US" sz="2400" dirty="0">
                <a:solidFill>
                  <a:schemeClr val="tx1">
                    <a:lumMod val="75000"/>
                    <a:lumOff val="25000"/>
                  </a:schemeClr>
                </a:solidFill>
                <a:latin typeface="Lato Bold" panose="020F0502020204030203" charset="0"/>
                <a:ea typeface="Lato Bold" panose="020F0502020204030203" charset="0"/>
                <a:cs typeface="Lato Bold" panose="020F0502020204030203" charset="0"/>
              </a:rPr>
              <a:t>Limited Access to Original Books</a:t>
            </a:r>
            <a:endParaRPr lang="en-US" sz="2200" dirty="0">
              <a:solidFill>
                <a:schemeClr val="tx1">
                  <a:lumMod val="75000"/>
                  <a:lumOff val="25000"/>
                </a:schemeClr>
              </a:solidFill>
              <a:latin typeface="Lato Bold" panose="020F0502020204030203" charset="0"/>
              <a:ea typeface="Lato Bold" panose="020F0502020204030203" charset="0"/>
              <a:cs typeface="Lato Bold" panose="020F0502020204030203" charset="0"/>
            </a:endParaRPr>
          </a:p>
        </p:txBody>
      </p:sp>
      <p:sp>
        <p:nvSpPr>
          <p:cNvPr id="18" name="Text 16"/>
          <p:cNvSpPr/>
          <p:nvPr/>
        </p:nvSpPr>
        <p:spPr>
          <a:xfrm>
            <a:off x="1142524" y="5557003"/>
            <a:ext cx="3590330" cy="1708905"/>
          </a:xfrm>
          <a:prstGeom prst="rect">
            <a:avLst/>
          </a:prstGeom>
          <a:noFill/>
          <a:ln/>
        </p:spPr>
        <p:txBody>
          <a:bodyPr wrap="square" lIns="0" tIns="0" rIns="0" bIns="0" rtlCol="0" anchor="t"/>
          <a:lstStyle/>
          <a:p>
            <a:pPr>
              <a:lnSpc>
                <a:spcPct val="150000"/>
              </a:lnSpc>
            </a:pPr>
            <a:r>
              <a:rPr lang="en-US" sz="1750" dirty="0">
                <a:solidFill>
                  <a:schemeClr val="tx1">
                    <a:lumMod val="75000"/>
                    <a:lumOff val="25000"/>
                  </a:schemeClr>
                </a:solidFill>
                <a:latin typeface="Lato" panose="020F0502020204030203" pitchFamily="34" charset="0"/>
                <a:ea typeface="Lato" panose="020F0502020204030203" pitchFamily="34" charset="0"/>
                <a:cs typeface="Lato" panose="020F0502020204030203" pitchFamily="34" charset="0"/>
              </a:rPr>
              <a:t>Access to affordable second-hand original books enhances reading accessibility, countering scarcity and high prices.</a:t>
            </a:r>
          </a:p>
        </p:txBody>
      </p:sp>
      <p:sp>
        <p:nvSpPr>
          <p:cNvPr id="19" name="Shape 17"/>
          <p:cNvSpPr/>
          <p:nvPr/>
        </p:nvSpPr>
        <p:spPr>
          <a:xfrm>
            <a:off x="5216962" y="4454962"/>
            <a:ext cx="4196358" cy="2810947"/>
          </a:xfrm>
          <a:prstGeom prst="roundRect">
            <a:avLst>
              <a:gd name="adj" fmla="val 5205"/>
            </a:avLst>
          </a:prstGeom>
          <a:solidFill>
            <a:srgbClr val="EFECE6"/>
          </a:solidFill>
          <a:ln w="30480">
            <a:solidFill>
              <a:srgbClr val="CBC5B8"/>
            </a:solidFill>
            <a:prstDash val="solid"/>
          </a:ln>
        </p:spPr>
      </p:sp>
      <p:sp>
        <p:nvSpPr>
          <p:cNvPr id="20" name="Shape 18"/>
          <p:cNvSpPr/>
          <p:nvPr/>
        </p:nvSpPr>
        <p:spPr>
          <a:xfrm>
            <a:off x="5186482" y="4454962"/>
            <a:ext cx="121920" cy="2810947"/>
          </a:xfrm>
          <a:prstGeom prst="roundRect">
            <a:avLst>
              <a:gd name="adj" fmla="val 27907"/>
            </a:avLst>
          </a:prstGeom>
          <a:solidFill>
            <a:srgbClr val="282824"/>
          </a:solidFill>
          <a:ln/>
        </p:spPr>
      </p:sp>
      <p:sp>
        <p:nvSpPr>
          <p:cNvPr id="21" name="Text 19"/>
          <p:cNvSpPr/>
          <p:nvPr/>
        </p:nvSpPr>
        <p:spPr>
          <a:xfrm>
            <a:off x="5565696" y="4712256"/>
            <a:ext cx="3590330" cy="708660"/>
          </a:xfrm>
          <a:prstGeom prst="rect">
            <a:avLst/>
          </a:prstGeom>
          <a:noFill/>
          <a:ln/>
        </p:spPr>
        <p:txBody>
          <a:bodyPr wrap="squar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Inefficient Book Exchange Process</a:t>
            </a:r>
            <a:endParaRPr lang="en-US" sz="2200" dirty="0"/>
          </a:p>
        </p:txBody>
      </p:sp>
      <p:sp>
        <p:nvSpPr>
          <p:cNvPr id="22" name="Text 20"/>
          <p:cNvSpPr/>
          <p:nvPr/>
        </p:nvSpPr>
        <p:spPr>
          <a:xfrm>
            <a:off x="5565696" y="5519933"/>
            <a:ext cx="3590330" cy="1646986"/>
          </a:xfrm>
          <a:prstGeom prst="rect">
            <a:avLst/>
          </a:prstGeom>
          <a:noFill/>
          <a:ln/>
        </p:spPr>
        <p:txBody>
          <a:bodyPr wrap="square" lIns="0" tIns="0" rIns="0" bIns="0" rtlCol="0" anchor="t"/>
          <a:lstStyle/>
          <a:p>
            <a:pPr marL="0" indent="0" algn="l">
              <a:lnSpc>
                <a:spcPct val="150000"/>
              </a:lnSpc>
              <a:buNone/>
            </a:pPr>
            <a:r>
              <a:rPr lang="en-US" sz="1750" dirty="0">
                <a:solidFill>
                  <a:schemeClr val="tx1">
                    <a:lumMod val="75000"/>
                    <a:lumOff val="25000"/>
                  </a:schemeClr>
                </a:solidFill>
                <a:latin typeface="Lato" panose="020F0502020204030203" pitchFamily="34" charset="0"/>
                <a:ea typeface="Lato" panose="020F0502020204030203" pitchFamily="34" charset="0"/>
                <a:cs typeface="Lato" panose="020F0502020204030203" pitchFamily="34" charset="0"/>
              </a:rPr>
              <a:t>The current book exchange system lacks proper organization, leading to the underuse of valuable second-hand books.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240036"/>
            <a:ext cx="5670590" cy="708779"/>
          </a:xfrm>
          <a:prstGeom prst="rect">
            <a:avLst/>
          </a:prstGeom>
          <a:noFill/>
          <a:ln/>
        </p:spPr>
        <p:txBody>
          <a:bodyPr wrap="none" lIns="0" tIns="0" rIns="0" bIns="0" rtlCol="0" anchor="t"/>
          <a:lstStyle/>
          <a:p>
            <a:pPr marL="0" indent="0" algn="l">
              <a:lnSpc>
                <a:spcPts val="5550"/>
              </a:lnSpc>
              <a:buNone/>
            </a:pPr>
            <a:r>
              <a:rPr lang="en-US" sz="4450" b="1" dirty="0">
                <a:solidFill>
                  <a:schemeClr val="tx1">
                    <a:lumMod val="65000"/>
                    <a:lumOff val="35000"/>
                  </a:schemeClr>
                </a:solidFill>
                <a:latin typeface="Lato Bold" pitchFamily="34" charset="0"/>
                <a:ea typeface="Lato Bold" pitchFamily="34" charset="-122"/>
                <a:cs typeface="Lato Bold" pitchFamily="34" charset="-120"/>
              </a:rPr>
              <a:t>Beneficiaries</a:t>
            </a:r>
            <a:endParaRPr lang="en-US" sz="4450" dirty="0">
              <a:solidFill>
                <a:schemeClr val="tx1">
                  <a:lumMod val="65000"/>
                  <a:lumOff val="35000"/>
                </a:schemeClr>
              </a:solidFill>
            </a:endParaRPr>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2402443"/>
            <a:ext cx="566976" cy="566976"/>
          </a:xfrm>
          <a:prstGeom prst="rect">
            <a:avLst/>
          </a:prstGeom>
        </p:spPr>
      </p:pic>
      <p:sp>
        <p:nvSpPr>
          <p:cNvPr id="4" name="Text 1"/>
          <p:cNvSpPr/>
          <p:nvPr/>
        </p:nvSpPr>
        <p:spPr>
          <a:xfrm>
            <a:off x="793790" y="325290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Students</a:t>
            </a:r>
            <a:endParaRPr lang="en-US" sz="2200" dirty="0"/>
          </a:p>
        </p:txBody>
      </p:sp>
      <p:sp>
        <p:nvSpPr>
          <p:cNvPr id="5" name="Text 2"/>
          <p:cNvSpPr/>
          <p:nvPr/>
        </p:nvSpPr>
        <p:spPr>
          <a:xfrm>
            <a:off x="793790" y="3743325"/>
            <a:ext cx="6379607"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Benefit from </a:t>
            </a:r>
            <a:r>
              <a:rPr lang="en-US" sz="1750" dirty="0">
                <a:solidFill>
                  <a:srgbClr val="282824"/>
                </a:solidFill>
                <a:latin typeface="Lato" pitchFamily="34" charset="0"/>
                <a:ea typeface="Lato" pitchFamily="34" charset="-122"/>
                <a:cs typeface="Lato" pitchFamily="34" charset="-120"/>
              </a:rPr>
              <a:t>cost reduction</a:t>
            </a:r>
            <a:r>
              <a:rPr lang="en-US" sz="1750" dirty="0">
                <a:solidFill>
                  <a:srgbClr val="4A4A45"/>
                </a:solidFill>
                <a:latin typeface="Lato" pitchFamily="34" charset="0"/>
                <a:ea typeface="Lato" pitchFamily="34" charset="-122"/>
                <a:cs typeface="Lato" pitchFamily="34" charset="-120"/>
              </a:rPr>
              <a:t> and </a:t>
            </a:r>
            <a:r>
              <a:rPr lang="en-US" sz="1750" dirty="0">
                <a:solidFill>
                  <a:srgbClr val="282824"/>
                </a:solidFill>
                <a:latin typeface="Lato" pitchFamily="34" charset="0"/>
                <a:ea typeface="Lato" pitchFamily="34" charset="-122"/>
                <a:cs typeface="Lato" pitchFamily="34" charset="-120"/>
              </a:rPr>
              <a:t>accessibility</a:t>
            </a:r>
            <a:r>
              <a:rPr lang="en-US" sz="1750" dirty="0">
                <a:solidFill>
                  <a:srgbClr val="4A4A45"/>
                </a:solidFill>
                <a:latin typeface="Lato" pitchFamily="34" charset="0"/>
                <a:ea typeface="Lato" pitchFamily="34" charset="-122"/>
                <a:cs typeface="Lato" pitchFamily="34" charset="-120"/>
              </a:rPr>
              <a:t> to affordable study materials.</a:t>
            </a:r>
            <a:endParaRPr lang="en-US" sz="1750" dirty="0"/>
          </a:p>
        </p:txBody>
      </p:sp>
      <p:pic>
        <p:nvPicPr>
          <p:cNvPr id="6" name="Image 1"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7456884" y="2402443"/>
            <a:ext cx="566976" cy="566976"/>
          </a:xfrm>
          <a:prstGeom prst="rect">
            <a:avLst/>
          </a:prstGeom>
        </p:spPr>
      </p:pic>
      <p:sp>
        <p:nvSpPr>
          <p:cNvPr id="7" name="Text 3"/>
          <p:cNvSpPr/>
          <p:nvPr/>
        </p:nvSpPr>
        <p:spPr>
          <a:xfrm>
            <a:off x="7456884" y="325290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Teachers</a:t>
            </a:r>
            <a:endParaRPr lang="en-US" sz="2200" dirty="0"/>
          </a:p>
        </p:txBody>
      </p:sp>
      <p:sp>
        <p:nvSpPr>
          <p:cNvPr id="8" name="Text 4"/>
          <p:cNvSpPr/>
          <p:nvPr/>
        </p:nvSpPr>
        <p:spPr>
          <a:xfrm>
            <a:off x="7456884" y="3743325"/>
            <a:ext cx="6379726"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Benefit from </a:t>
            </a:r>
            <a:r>
              <a:rPr lang="en-US" sz="1750" dirty="0">
                <a:solidFill>
                  <a:srgbClr val="282824"/>
                </a:solidFill>
                <a:latin typeface="Lato" pitchFamily="34" charset="0"/>
                <a:ea typeface="Lato" pitchFamily="34" charset="-122"/>
                <a:cs typeface="Lato" pitchFamily="34" charset="-120"/>
              </a:rPr>
              <a:t>accessibility</a:t>
            </a:r>
            <a:r>
              <a:rPr lang="en-US" sz="1750" dirty="0">
                <a:solidFill>
                  <a:srgbClr val="4A4A45"/>
                </a:solidFill>
                <a:latin typeface="Lato" pitchFamily="34" charset="0"/>
                <a:ea typeface="Lato" pitchFamily="34" charset="-122"/>
                <a:cs typeface="Lato" pitchFamily="34" charset="-120"/>
              </a:rPr>
              <a:t> to diverse teaching resources at reduced costs.</a:t>
            </a:r>
            <a:endParaRPr lang="en-US" sz="1750" dirty="0"/>
          </a:p>
        </p:txBody>
      </p:sp>
      <p:pic>
        <p:nvPicPr>
          <p:cNvPr id="9" name="Image 2" descr="preencoded.png"/>
          <p:cNvPicPr>
            <a:picLocks noChangeAspect="1"/>
          </p:cNvPicPr>
          <p:nvPr/>
        </p:nvPicPr>
        <p:blipFill>
          <a:blip r:embed="rId3">
            <a:extLst>
              <a:ext uri="{96DAC541-7B7A-43D3-8B79-37D633B846F1}">
                <asvg:svgBlip xmlns:asvg="http://schemas.microsoft.com/office/drawing/2016/SVG/main" r:embed="rId6"/>
              </a:ext>
            </a:extLst>
          </a:blip>
          <a:stretch>
            <a:fillRect/>
          </a:stretch>
        </p:blipFill>
        <p:spPr>
          <a:xfrm>
            <a:off x="793790" y="4922758"/>
            <a:ext cx="566976" cy="566976"/>
          </a:xfrm>
          <a:prstGeom prst="rect">
            <a:avLst/>
          </a:prstGeom>
        </p:spPr>
      </p:pic>
      <p:sp>
        <p:nvSpPr>
          <p:cNvPr id="10" name="Text 5"/>
          <p:cNvSpPr/>
          <p:nvPr/>
        </p:nvSpPr>
        <p:spPr>
          <a:xfrm>
            <a:off x="793790" y="577322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General Readers</a:t>
            </a:r>
            <a:endParaRPr lang="en-US" sz="2200" dirty="0"/>
          </a:p>
        </p:txBody>
      </p:sp>
      <p:sp>
        <p:nvSpPr>
          <p:cNvPr id="11" name="Text 6"/>
          <p:cNvSpPr/>
          <p:nvPr/>
        </p:nvSpPr>
        <p:spPr>
          <a:xfrm>
            <a:off x="793790" y="6263640"/>
            <a:ext cx="6379607"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Benefit from </a:t>
            </a:r>
            <a:r>
              <a:rPr lang="en-US" sz="1750" dirty="0">
                <a:solidFill>
                  <a:srgbClr val="282824"/>
                </a:solidFill>
                <a:latin typeface="Lato" pitchFamily="34" charset="0"/>
                <a:ea typeface="Lato" pitchFamily="34" charset="-122"/>
                <a:cs typeface="Lato" pitchFamily="34" charset="-120"/>
              </a:rPr>
              <a:t>cost reduction</a:t>
            </a:r>
            <a:r>
              <a:rPr lang="en-US" sz="1750" dirty="0">
                <a:solidFill>
                  <a:srgbClr val="4A4A45"/>
                </a:solidFill>
                <a:latin typeface="Lato" pitchFamily="34" charset="0"/>
                <a:ea typeface="Lato" pitchFamily="34" charset="-122"/>
                <a:cs typeface="Lato" pitchFamily="34" charset="-120"/>
              </a:rPr>
              <a:t> and </a:t>
            </a:r>
            <a:r>
              <a:rPr lang="en-US" sz="1750" dirty="0">
                <a:solidFill>
                  <a:srgbClr val="282824"/>
                </a:solidFill>
                <a:latin typeface="Lato" pitchFamily="34" charset="0"/>
                <a:ea typeface="Lato" pitchFamily="34" charset="-122"/>
                <a:cs typeface="Lato" pitchFamily="34" charset="-120"/>
              </a:rPr>
              <a:t>accessibility</a:t>
            </a:r>
            <a:r>
              <a:rPr lang="en-US" sz="1750" dirty="0">
                <a:solidFill>
                  <a:srgbClr val="4A4A45"/>
                </a:solidFill>
                <a:latin typeface="Lato" pitchFamily="34" charset="0"/>
                <a:ea typeface="Lato" pitchFamily="34" charset="-122"/>
                <a:cs typeface="Lato" pitchFamily="34" charset="-120"/>
              </a:rPr>
              <a:t> to a wider selection of original second-hand books without risk of counterfeit copies.</a:t>
            </a:r>
            <a:endParaRPr lang="en-US" sz="1750" dirty="0"/>
          </a:p>
        </p:txBody>
      </p:sp>
      <p:pic>
        <p:nvPicPr>
          <p:cNvPr id="12" name="Image 3" descr="preencoded.png"/>
          <p:cNvPicPr>
            <a:picLocks noChangeAspect="1"/>
          </p:cNvPicPr>
          <p:nvPr/>
        </p:nvPicPr>
        <p:blipFill>
          <a:blip r:embed="rId3">
            <a:extLst>
              <a:ext uri="{96DAC541-7B7A-43D3-8B79-37D633B846F1}">
                <asvg:svgBlip xmlns:asvg="http://schemas.microsoft.com/office/drawing/2016/SVG/main" r:embed="rId7"/>
              </a:ext>
            </a:extLst>
          </a:blip>
          <a:stretch>
            <a:fillRect/>
          </a:stretch>
        </p:blipFill>
        <p:spPr>
          <a:xfrm>
            <a:off x="7456884" y="4922758"/>
            <a:ext cx="566976" cy="566976"/>
          </a:xfrm>
          <a:prstGeom prst="rect">
            <a:avLst/>
          </a:prstGeom>
        </p:spPr>
      </p:pic>
      <p:sp>
        <p:nvSpPr>
          <p:cNvPr id="13" name="Text 7"/>
          <p:cNvSpPr/>
          <p:nvPr/>
        </p:nvSpPr>
        <p:spPr>
          <a:xfrm>
            <a:off x="7456884" y="5773222"/>
            <a:ext cx="3195757"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Thrift Book Shop Owners</a:t>
            </a:r>
            <a:endParaRPr lang="en-US" sz="2200" dirty="0"/>
          </a:p>
        </p:txBody>
      </p:sp>
      <p:sp>
        <p:nvSpPr>
          <p:cNvPr id="14" name="Text 8"/>
          <p:cNvSpPr/>
          <p:nvPr/>
        </p:nvSpPr>
        <p:spPr>
          <a:xfrm>
            <a:off x="7456884" y="6263640"/>
            <a:ext cx="6379726"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Benefit from </a:t>
            </a:r>
            <a:r>
              <a:rPr lang="en-US" sz="1750" dirty="0">
                <a:solidFill>
                  <a:srgbClr val="282824"/>
                </a:solidFill>
                <a:latin typeface="Lato" pitchFamily="34" charset="0"/>
                <a:ea typeface="Lato" pitchFamily="34" charset="-122"/>
                <a:cs typeface="Lato" pitchFamily="34" charset="-120"/>
              </a:rPr>
              <a:t>system efficiency</a:t>
            </a:r>
            <a:r>
              <a:rPr lang="en-US" sz="1750" dirty="0">
                <a:solidFill>
                  <a:srgbClr val="4A4A45"/>
                </a:solidFill>
                <a:latin typeface="Lato" pitchFamily="34" charset="0"/>
                <a:ea typeface="Lato" pitchFamily="34" charset="-122"/>
                <a:cs typeface="Lato" pitchFamily="34" charset="-120"/>
              </a:rPr>
              <a:t> in managing inventory, sales, and book exchange operations.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0695" y="1180386"/>
            <a:ext cx="5670590" cy="708779"/>
          </a:xfrm>
          <a:prstGeom prst="rect">
            <a:avLst/>
          </a:prstGeom>
          <a:noFill/>
          <a:ln/>
        </p:spPr>
        <p:txBody>
          <a:bodyPr wrap="none" lIns="0" tIns="0" rIns="0" bIns="0" rtlCol="0" anchor="t"/>
          <a:lstStyle/>
          <a:p>
            <a:pPr marL="0" indent="0" algn="l">
              <a:lnSpc>
                <a:spcPts val="5550"/>
              </a:lnSpc>
              <a:buNone/>
            </a:pPr>
            <a:r>
              <a:rPr lang="en-US" sz="4450" b="1" dirty="0">
                <a:solidFill>
                  <a:schemeClr val="tx1">
                    <a:lumMod val="65000"/>
                    <a:lumOff val="35000"/>
                  </a:schemeClr>
                </a:solidFill>
                <a:latin typeface="Lato Bold" pitchFamily="34" charset="0"/>
                <a:ea typeface="Lato Bold" pitchFamily="34" charset="-122"/>
                <a:cs typeface="Lato Bold" pitchFamily="34" charset="-120"/>
              </a:rPr>
              <a:t>Expected Outcome</a:t>
            </a:r>
            <a:endParaRPr lang="en-US" sz="4450" dirty="0">
              <a:solidFill>
                <a:schemeClr val="tx1">
                  <a:lumMod val="65000"/>
                  <a:lumOff val="35000"/>
                </a:schemeClr>
              </a:solidFill>
            </a:endParaRPr>
          </a:p>
        </p:txBody>
      </p:sp>
      <p:sp>
        <p:nvSpPr>
          <p:cNvPr id="4" name="Shape 1"/>
          <p:cNvSpPr/>
          <p:nvPr/>
        </p:nvSpPr>
        <p:spPr>
          <a:xfrm>
            <a:off x="793790" y="2456259"/>
            <a:ext cx="510302" cy="510302"/>
          </a:xfrm>
          <a:prstGeom prst="roundRect">
            <a:avLst>
              <a:gd name="adj" fmla="val 6667"/>
            </a:avLst>
          </a:prstGeom>
          <a:solidFill>
            <a:srgbClr val="E5DFD2"/>
          </a:solidFill>
          <a:ln/>
        </p:spPr>
      </p:sp>
      <p:sp>
        <p:nvSpPr>
          <p:cNvPr id="5" name="Text 2"/>
          <p:cNvSpPr/>
          <p:nvPr/>
        </p:nvSpPr>
        <p:spPr>
          <a:xfrm>
            <a:off x="878860" y="2498765"/>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4A4A45"/>
                </a:solidFill>
                <a:latin typeface="Lato Bold" pitchFamily="34" charset="0"/>
                <a:ea typeface="Lato Bold" pitchFamily="34" charset="-122"/>
                <a:cs typeface="Lato Bold" pitchFamily="34" charset="-120"/>
              </a:rPr>
              <a:t>1</a:t>
            </a:r>
            <a:endParaRPr lang="en-US" sz="2650" dirty="0"/>
          </a:p>
        </p:txBody>
      </p:sp>
      <p:sp>
        <p:nvSpPr>
          <p:cNvPr id="6" name="Text 3"/>
          <p:cNvSpPr/>
          <p:nvPr/>
        </p:nvSpPr>
        <p:spPr>
          <a:xfrm>
            <a:off x="1530906" y="2534126"/>
            <a:ext cx="4742974"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Improved Access to Affordable Books</a:t>
            </a:r>
            <a:endParaRPr lang="en-US" sz="2200" dirty="0"/>
          </a:p>
        </p:txBody>
      </p:sp>
      <p:sp>
        <p:nvSpPr>
          <p:cNvPr id="7" name="Shape 4"/>
          <p:cNvSpPr/>
          <p:nvPr/>
        </p:nvSpPr>
        <p:spPr>
          <a:xfrm>
            <a:off x="793790" y="3420189"/>
            <a:ext cx="510302" cy="510302"/>
          </a:xfrm>
          <a:prstGeom prst="roundRect">
            <a:avLst>
              <a:gd name="adj" fmla="val 6667"/>
            </a:avLst>
          </a:prstGeom>
          <a:solidFill>
            <a:srgbClr val="E5DFD2"/>
          </a:solidFill>
          <a:ln/>
        </p:spPr>
      </p:sp>
      <p:sp>
        <p:nvSpPr>
          <p:cNvPr id="8" name="Text 5"/>
          <p:cNvSpPr/>
          <p:nvPr/>
        </p:nvSpPr>
        <p:spPr>
          <a:xfrm>
            <a:off x="878860" y="3462695"/>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4A4A45"/>
                </a:solidFill>
                <a:latin typeface="Lato Bold" pitchFamily="34" charset="0"/>
                <a:ea typeface="Lato Bold" pitchFamily="34" charset="-122"/>
                <a:cs typeface="Lato Bold" pitchFamily="34" charset="-120"/>
              </a:rPr>
              <a:t>2</a:t>
            </a:r>
            <a:endParaRPr lang="en-US" sz="2650" dirty="0"/>
          </a:p>
        </p:txBody>
      </p:sp>
      <p:sp>
        <p:nvSpPr>
          <p:cNvPr id="9" name="Text 6"/>
          <p:cNvSpPr/>
          <p:nvPr/>
        </p:nvSpPr>
        <p:spPr>
          <a:xfrm>
            <a:off x="1530906" y="3498056"/>
            <a:ext cx="4722257"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Organized Buying and Selling Process</a:t>
            </a:r>
            <a:endParaRPr lang="en-US" sz="2200" dirty="0"/>
          </a:p>
        </p:txBody>
      </p:sp>
      <p:sp>
        <p:nvSpPr>
          <p:cNvPr id="10" name="Shape 7"/>
          <p:cNvSpPr/>
          <p:nvPr/>
        </p:nvSpPr>
        <p:spPr>
          <a:xfrm>
            <a:off x="793790" y="4384119"/>
            <a:ext cx="510302" cy="510302"/>
          </a:xfrm>
          <a:prstGeom prst="roundRect">
            <a:avLst>
              <a:gd name="adj" fmla="val 6667"/>
            </a:avLst>
          </a:prstGeom>
          <a:solidFill>
            <a:srgbClr val="E5DFD2"/>
          </a:solidFill>
          <a:ln/>
        </p:spPr>
      </p:sp>
      <p:sp>
        <p:nvSpPr>
          <p:cNvPr id="11" name="Text 8"/>
          <p:cNvSpPr/>
          <p:nvPr/>
        </p:nvSpPr>
        <p:spPr>
          <a:xfrm>
            <a:off x="878860" y="4426625"/>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4A4A45"/>
                </a:solidFill>
                <a:latin typeface="Lato Bold" pitchFamily="34" charset="0"/>
                <a:ea typeface="Lato Bold" pitchFamily="34" charset="-122"/>
                <a:cs typeface="Lato Bold" pitchFamily="34" charset="-120"/>
              </a:rPr>
              <a:t>3</a:t>
            </a:r>
            <a:endParaRPr lang="en-US" sz="2650" dirty="0"/>
          </a:p>
        </p:txBody>
      </p:sp>
      <p:sp>
        <p:nvSpPr>
          <p:cNvPr id="12" name="Text 9"/>
          <p:cNvSpPr/>
          <p:nvPr/>
        </p:nvSpPr>
        <p:spPr>
          <a:xfrm>
            <a:off x="1530906" y="4461986"/>
            <a:ext cx="433768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Structured Book Exchange System</a:t>
            </a:r>
            <a:endParaRPr lang="en-US" sz="2200" dirty="0"/>
          </a:p>
        </p:txBody>
      </p:sp>
      <p:sp>
        <p:nvSpPr>
          <p:cNvPr id="13" name="Shape 10"/>
          <p:cNvSpPr/>
          <p:nvPr/>
        </p:nvSpPr>
        <p:spPr>
          <a:xfrm>
            <a:off x="793790" y="5348049"/>
            <a:ext cx="510302" cy="510302"/>
          </a:xfrm>
          <a:prstGeom prst="roundRect">
            <a:avLst>
              <a:gd name="adj" fmla="val 6667"/>
            </a:avLst>
          </a:prstGeom>
          <a:solidFill>
            <a:srgbClr val="E5DFD2"/>
          </a:solidFill>
          <a:ln/>
        </p:spPr>
      </p:sp>
      <p:sp>
        <p:nvSpPr>
          <p:cNvPr id="14" name="Text 11"/>
          <p:cNvSpPr/>
          <p:nvPr/>
        </p:nvSpPr>
        <p:spPr>
          <a:xfrm>
            <a:off x="878860" y="5390555"/>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4A4A45"/>
                </a:solidFill>
                <a:latin typeface="Lato Bold" pitchFamily="34" charset="0"/>
                <a:ea typeface="Lato Bold" pitchFamily="34" charset="-122"/>
                <a:cs typeface="Lato Bold" pitchFamily="34" charset="-120"/>
              </a:rPr>
              <a:t>4</a:t>
            </a:r>
            <a:endParaRPr lang="en-US" sz="2650" dirty="0"/>
          </a:p>
        </p:txBody>
      </p:sp>
      <p:sp>
        <p:nvSpPr>
          <p:cNvPr id="15" name="Text 12"/>
          <p:cNvSpPr/>
          <p:nvPr/>
        </p:nvSpPr>
        <p:spPr>
          <a:xfrm>
            <a:off x="1530906" y="5425916"/>
            <a:ext cx="5963364"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Reduced Dependency on Expensive New Books</a:t>
            </a:r>
            <a:endParaRPr lang="en-US" sz="2200" dirty="0"/>
          </a:p>
        </p:txBody>
      </p:sp>
      <p:sp>
        <p:nvSpPr>
          <p:cNvPr id="16" name="Shape 13"/>
          <p:cNvSpPr/>
          <p:nvPr/>
        </p:nvSpPr>
        <p:spPr>
          <a:xfrm>
            <a:off x="793790" y="6311979"/>
            <a:ext cx="510302" cy="510302"/>
          </a:xfrm>
          <a:prstGeom prst="roundRect">
            <a:avLst>
              <a:gd name="adj" fmla="val 6667"/>
            </a:avLst>
          </a:prstGeom>
          <a:solidFill>
            <a:srgbClr val="E5DFD2"/>
          </a:solidFill>
          <a:ln/>
        </p:spPr>
      </p:sp>
      <p:sp>
        <p:nvSpPr>
          <p:cNvPr id="17" name="Text 14"/>
          <p:cNvSpPr/>
          <p:nvPr/>
        </p:nvSpPr>
        <p:spPr>
          <a:xfrm>
            <a:off x="878860" y="6354485"/>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4A4A45"/>
                </a:solidFill>
                <a:latin typeface="Lato Bold" pitchFamily="34" charset="0"/>
                <a:ea typeface="Lato Bold" pitchFamily="34" charset="-122"/>
                <a:cs typeface="Lato Bold" pitchFamily="34" charset="-120"/>
              </a:rPr>
              <a:t>5</a:t>
            </a:r>
            <a:endParaRPr lang="en-US" sz="2650" dirty="0"/>
          </a:p>
        </p:txBody>
      </p:sp>
      <p:sp>
        <p:nvSpPr>
          <p:cNvPr id="18" name="Text 15"/>
          <p:cNvSpPr/>
          <p:nvPr/>
        </p:nvSpPr>
        <p:spPr>
          <a:xfrm>
            <a:off x="1530906" y="6389846"/>
            <a:ext cx="4986457"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Increased Reuse of Second-Hand Books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1" name="Text 0">
            <a:extLst>
              <a:ext uri="{FF2B5EF4-FFF2-40B4-BE49-F238E27FC236}">
                <a16:creationId xmlns:a16="http://schemas.microsoft.com/office/drawing/2014/main" id="{D0D35089-3405-4A1D-A4B7-86A04BFB8194}"/>
              </a:ext>
            </a:extLst>
          </p:cNvPr>
          <p:cNvSpPr/>
          <p:nvPr/>
        </p:nvSpPr>
        <p:spPr>
          <a:xfrm>
            <a:off x="727829" y="653415"/>
            <a:ext cx="4773454" cy="596622"/>
          </a:xfrm>
          <a:prstGeom prst="rect">
            <a:avLst/>
          </a:prstGeom>
          <a:noFill/>
          <a:ln/>
        </p:spPr>
        <p:txBody>
          <a:bodyPr wrap="none" lIns="0" tIns="0" rIns="0" bIns="0" rtlCol="0" anchor="t"/>
          <a:lstStyle/>
          <a:p>
            <a:pPr marL="0" indent="0" algn="l">
              <a:lnSpc>
                <a:spcPts val="4650"/>
              </a:lnSpc>
              <a:buNone/>
            </a:pPr>
            <a:r>
              <a:rPr lang="en-US" sz="3750" b="1" dirty="0">
                <a:solidFill>
                  <a:schemeClr val="tx1">
                    <a:lumMod val="65000"/>
                    <a:lumOff val="35000"/>
                  </a:schemeClr>
                </a:solidFill>
                <a:latin typeface="Lato Bold" pitchFamily="34" charset="0"/>
                <a:ea typeface="Lato Bold" pitchFamily="34" charset="-122"/>
                <a:cs typeface="Lato Bold" pitchFamily="34" charset="-120"/>
              </a:rPr>
              <a:t>Methodology</a:t>
            </a:r>
            <a:endParaRPr lang="en-US" sz="3750" dirty="0">
              <a:solidFill>
                <a:schemeClr val="tx1">
                  <a:lumMod val="65000"/>
                  <a:lumOff val="35000"/>
                </a:schemeClr>
              </a:solidFill>
            </a:endParaRPr>
          </a:p>
        </p:txBody>
      </p:sp>
      <p:pic>
        <p:nvPicPr>
          <p:cNvPr id="32" name="Image 0" descr="preencoded.png">
            <a:extLst>
              <a:ext uri="{FF2B5EF4-FFF2-40B4-BE49-F238E27FC236}">
                <a16:creationId xmlns:a16="http://schemas.microsoft.com/office/drawing/2014/main" id="{AC84A6EB-B98D-410D-8C21-42335615E110}"/>
              </a:ext>
            </a:extLst>
          </p:cNvPr>
          <p:cNvPicPr>
            <a:picLocks noChangeAspect="1"/>
          </p:cNvPicPr>
          <p:nvPr/>
        </p:nvPicPr>
        <p:blipFill>
          <a:blip r:embed="rId3"/>
          <a:stretch>
            <a:fillRect/>
          </a:stretch>
        </p:blipFill>
        <p:spPr>
          <a:xfrm>
            <a:off x="727829" y="1605677"/>
            <a:ext cx="6587371" cy="763667"/>
          </a:xfrm>
          <a:prstGeom prst="rect">
            <a:avLst/>
          </a:prstGeom>
        </p:spPr>
      </p:pic>
      <p:sp>
        <p:nvSpPr>
          <p:cNvPr id="33" name="Text 1">
            <a:extLst>
              <a:ext uri="{FF2B5EF4-FFF2-40B4-BE49-F238E27FC236}">
                <a16:creationId xmlns:a16="http://schemas.microsoft.com/office/drawing/2014/main" id="{92823D97-CF03-4949-83E2-B20DA4198D1F}"/>
              </a:ext>
            </a:extLst>
          </p:cNvPr>
          <p:cNvSpPr/>
          <p:nvPr/>
        </p:nvSpPr>
        <p:spPr>
          <a:xfrm>
            <a:off x="918686" y="2529959"/>
            <a:ext cx="2386727" cy="298371"/>
          </a:xfrm>
          <a:prstGeom prst="rect">
            <a:avLst/>
          </a:prstGeom>
          <a:noFill/>
          <a:ln/>
        </p:spPr>
        <p:txBody>
          <a:bodyPr wrap="none" lIns="0" tIns="0" rIns="0" bIns="0" rtlCol="0" anchor="t"/>
          <a:lstStyle/>
          <a:p>
            <a:pPr marL="0" indent="0" algn="l">
              <a:lnSpc>
                <a:spcPts val="2300"/>
              </a:lnSpc>
              <a:buNone/>
            </a:pPr>
            <a:r>
              <a:rPr lang="en-US" sz="1850" b="1" dirty="0">
                <a:solidFill>
                  <a:srgbClr val="4A4A45"/>
                </a:solidFill>
                <a:latin typeface="Lato Bold" pitchFamily="34" charset="0"/>
                <a:ea typeface="Lato Bold" pitchFamily="34" charset="-122"/>
                <a:cs typeface="Lato Bold" pitchFamily="34" charset="-120"/>
              </a:rPr>
              <a:t>Requirement Analysis</a:t>
            </a:r>
            <a:endParaRPr lang="en-US" sz="1850" dirty="0"/>
          </a:p>
        </p:txBody>
      </p:sp>
      <p:sp>
        <p:nvSpPr>
          <p:cNvPr id="34" name="Text 2">
            <a:extLst>
              <a:ext uri="{FF2B5EF4-FFF2-40B4-BE49-F238E27FC236}">
                <a16:creationId xmlns:a16="http://schemas.microsoft.com/office/drawing/2014/main" id="{94C8BA16-9A5F-43CA-BEB0-9ED7A6A2B348}"/>
              </a:ext>
            </a:extLst>
          </p:cNvPr>
          <p:cNvSpPr/>
          <p:nvPr/>
        </p:nvSpPr>
        <p:spPr>
          <a:xfrm>
            <a:off x="918686" y="2924651"/>
            <a:ext cx="6205657" cy="562689"/>
          </a:xfrm>
          <a:prstGeom prst="rect">
            <a:avLst/>
          </a:prstGeom>
          <a:noFill/>
          <a:ln/>
        </p:spPr>
        <p:txBody>
          <a:bodyPr wrap="square" lIns="0" tIns="0" rIns="0" bIns="0" rtlCol="0" anchor="t"/>
          <a:lstStyle/>
          <a:p>
            <a:pPr marL="0" indent="0" algn="l">
              <a:lnSpc>
                <a:spcPts val="2200"/>
              </a:lnSpc>
              <a:buNone/>
            </a:pPr>
            <a:r>
              <a:rPr lang="en-US" sz="1750" dirty="0">
                <a:solidFill>
                  <a:srgbClr val="4A4A45"/>
                </a:solidFill>
                <a:latin typeface="Lato" pitchFamily="34" charset="0"/>
                <a:ea typeface="Lato" pitchFamily="34" charset="-122"/>
                <a:cs typeface="Lato" pitchFamily="34" charset="-120"/>
              </a:rPr>
              <a:t>Identification and documentation of functional and non‑functional requirements.</a:t>
            </a:r>
            <a:endParaRPr lang="en-US" sz="1750" dirty="0"/>
          </a:p>
        </p:txBody>
      </p:sp>
      <p:pic>
        <p:nvPicPr>
          <p:cNvPr id="35" name="Image 1" descr="preencoded.png">
            <a:extLst>
              <a:ext uri="{FF2B5EF4-FFF2-40B4-BE49-F238E27FC236}">
                <a16:creationId xmlns:a16="http://schemas.microsoft.com/office/drawing/2014/main" id="{2564862E-A9E9-44AD-8694-1AC21AAF253D}"/>
              </a:ext>
            </a:extLst>
          </p:cNvPr>
          <p:cNvPicPr>
            <a:picLocks noChangeAspect="1"/>
          </p:cNvPicPr>
          <p:nvPr/>
        </p:nvPicPr>
        <p:blipFill>
          <a:blip r:embed="rId4"/>
          <a:stretch>
            <a:fillRect/>
          </a:stretch>
        </p:blipFill>
        <p:spPr>
          <a:xfrm>
            <a:off x="7315200" y="1605677"/>
            <a:ext cx="6587371" cy="763667"/>
          </a:xfrm>
          <a:prstGeom prst="rect">
            <a:avLst/>
          </a:prstGeom>
        </p:spPr>
      </p:pic>
      <p:sp>
        <p:nvSpPr>
          <p:cNvPr id="36" name="Text 3">
            <a:extLst>
              <a:ext uri="{FF2B5EF4-FFF2-40B4-BE49-F238E27FC236}">
                <a16:creationId xmlns:a16="http://schemas.microsoft.com/office/drawing/2014/main" id="{FE6FC91D-17C3-435F-B540-FC7108A91176}"/>
              </a:ext>
            </a:extLst>
          </p:cNvPr>
          <p:cNvSpPr/>
          <p:nvPr/>
        </p:nvSpPr>
        <p:spPr>
          <a:xfrm>
            <a:off x="7506057" y="2529959"/>
            <a:ext cx="2386727" cy="298371"/>
          </a:xfrm>
          <a:prstGeom prst="rect">
            <a:avLst/>
          </a:prstGeom>
          <a:noFill/>
          <a:ln/>
        </p:spPr>
        <p:txBody>
          <a:bodyPr wrap="none" lIns="0" tIns="0" rIns="0" bIns="0" rtlCol="0" anchor="t"/>
          <a:lstStyle/>
          <a:p>
            <a:pPr marL="0" indent="0" algn="l">
              <a:lnSpc>
                <a:spcPts val="2300"/>
              </a:lnSpc>
              <a:buNone/>
            </a:pPr>
            <a:r>
              <a:rPr lang="en-US" sz="1850" b="1" dirty="0">
                <a:solidFill>
                  <a:srgbClr val="4A4A45"/>
                </a:solidFill>
                <a:latin typeface="Lato Bold" pitchFamily="34" charset="0"/>
                <a:ea typeface="Lato Bold" pitchFamily="34" charset="-122"/>
                <a:cs typeface="Lato Bold" pitchFamily="34" charset="-120"/>
              </a:rPr>
              <a:t>System Design</a:t>
            </a:r>
            <a:endParaRPr lang="en-US" sz="1850" dirty="0"/>
          </a:p>
        </p:txBody>
      </p:sp>
      <p:sp>
        <p:nvSpPr>
          <p:cNvPr id="37" name="Text 4">
            <a:extLst>
              <a:ext uri="{FF2B5EF4-FFF2-40B4-BE49-F238E27FC236}">
                <a16:creationId xmlns:a16="http://schemas.microsoft.com/office/drawing/2014/main" id="{80EEE09A-4F09-469F-86B7-32B44ED71030}"/>
              </a:ext>
            </a:extLst>
          </p:cNvPr>
          <p:cNvSpPr/>
          <p:nvPr/>
        </p:nvSpPr>
        <p:spPr>
          <a:xfrm>
            <a:off x="7506057" y="2924651"/>
            <a:ext cx="6205657" cy="562689"/>
          </a:xfrm>
          <a:prstGeom prst="rect">
            <a:avLst/>
          </a:prstGeom>
          <a:noFill/>
          <a:ln/>
        </p:spPr>
        <p:txBody>
          <a:bodyPr wrap="square" lIns="0" tIns="0" rIns="0" bIns="0" rtlCol="0" anchor="t"/>
          <a:lstStyle/>
          <a:p>
            <a:pPr marL="0" indent="0" algn="l">
              <a:lnSpc>
                <a:spcPts val="2200"/>
              </a:lnSpc>
              <a:buNone/>
            </a:pPr>
            <a:r>
              <a:rPr lang="en-US" sz="1750" dirty="0">
                <a:solidFill>
                  <a:srgbClr val="4A4A45"/>
                </a:solidFill>
                <a:latin typeface="Lato" pitchFamily="34" charset="0"/>
                <a:ea typeface="Lato" pitchFamily="34" charset="-122"/>
                <a:cs typeface="Lato" pitchFamily="34" charset="-120"/>
              </a:rPr>
              <a:t>Development of system architecture, database schema, and UML diagrams.</a:t>
            </a:r>
            <a:endParaRPr lang="en-US" sz="1750" dirty="0"/>
          </a:p>
        </p:txBody>
      </p:sp>
      <p:pic>
        <p:nvPicPr>
          <p:cNvPr id="38" name="Image 2" descr="preencoded.png">
            <a:extLst>
              <a:ext uri="{FF2B5EF4-FFF2-40B4-BE49-F238E27FC236}">
                <a16:creationId xmlns:a16="http://schemas.microsoft.com/office/drawing/2014/main" id="{C14DAF83-53FF-4702-BF65-57321269A13A}"/>
              </a:ext>
            </a:extLst>
          </p:cNvPr>
          <p:cNvPicPr>
            <a:picLocks noChangeAspect="1"/>
          </p:cNvPicPr>
          <p:nvPr/>
        </p:nvPicPr>
        <p:blipFill>
          <a:blip r:embed="rId5"/>
          <a:stretch>
            <a:fillRect/>
          </a:stretch>
        </p:blipFill>
        <p:spPr>
          <a:xfrm>
            <a:off x="727829" y="3678198"/>
            <a:ext cx="6587371" cy="763667"/>
          </a:xfrm>
          <a:prstGeom prst="rect">
            <a:avLst/>
          </a:prstGeom>
        </p:spPr>
      </p:pic>
      <p:sp>
        <p:nvSpPr>
          <p:cNvPr id="39" name="Text 5">
            <a:extLst>
              <a:ext uri="{FF2B5EF4-FFF2-40B4-BE49-F238E27FC236}">
                <a16:creationId xmlns:a16="http://schemas.microsoft.com/office/drawing/2014/main" id="{9EEB9401-6C01-42B7-AFB3-89079C7646B6}"/>
              </a:ext>
            </a:extLst>
          </p:cNvPr>
          <p:cNvSpPr/>
          <p:nvPr/>
        </p:nvSpPr>
        <p:spPr>
          <a:xfrm>
            <a:off x="918686" y="4602480"/>
            <a:ext cx="2386727" cy="298371"/>
          </a:xfrm>
          <a:prstGeom prst="rect">
            <a:avLst/>
          </a:prstGeom>
          <a:noFill/>
          <a:ln/>
        </p:spPr>
        <p:txBody>
          <a:bodyPr wrap="none" lIns="0" tIns="0" rIns="0" bIns="0" rtlCol="0" anchor="t"/>
          <a:lstStyle/>
          <a:p>
            <a:pPr marL="0" indent="0" algn="l">
              <a:lnSpc>
                <a:spcPts val="2300"/>
              </a:lnSpc>
              <a:buNone/>
            </a:pPr>
            <a:r>
              <a:rPr lang="en-US" sz="1850" b="1" dirty="0">
                <a:solidFill>
                  <a:srgbClr val="4A4A45"/>
                </a:solidFill>
                <a:latin typeface="Lato Bold" pitchFamily="34" charset="0"/>
                <a:ea typeface="Lato Bold" pitchFamily="34" charset="-122"/>
                <a:cs typeface="Lato Bold" pitchFamily="34" charset="-120"/>
              </a:rPr>
              <a:t>Implementation</a:t>
            </a:r>
            <a:endParaRPr lang="en-US" sz="1850" dirty="0"/>
          </a:p>
        </p:txBody>
      </p:sp>
      <p:sp>
        <p:nvSpPr>
          <p:cNvPr id="40" name="Text 6">
            <a:extLst>
              <a:ext uri="{FF2B5EF4-FFF2-40B4-BE49-F238E27FC236}">
                <a16:creationId xmlns:a16="http://schemas.microsoft.com/office/drawing/2014/main" id="{8B1A5F59-B8AC-4B2C-8743-D73FE7056B23}"/>
              </a:ext>
            </a:extLst>
          </p:cNvPr>
          <p:cNvSpPr/>
          <p:nvPr/>
        </p:nvSpPr>
        <p:spPr>
          <a:xfrm>
            <a:off x="918686" y="4997172"/>
            <a:ext cx="6205657" cy="562689"/>
          </a:xfrm>
          <a:prstGeom prst="rect">
            <a:avLst/>
          </a:prstGeom>
          <a:noFill/>
          <a:ln/>
        </p:spPr>
        <p:txBody>
          <a:bodyPr wrap="square" lIns="0" tIns="0" rIns="0" bIns="0" rtlCol="0" anchor="t"/>
          <a:lstStyle/>
          <a:p>
            <a:pPr marL="0" indent="0" algn="l">
              <a:lnSpc>
                <a:spcPts val="2200"/>
              </a:lnSpc>
              <a:buNone/>
            </a:pPr>
            <a:r>
              <a:rPr lang="en-US" sz="1750" dirty="0">
                <a:solidFill>
                  <a:srgbClr val="4A4A45"/>
                </a:solidFill>
                <a:latin typeface="Lato" pitchFamily="34" charset="0"/>
                <a:ea typeface="Lato" pitchFamily="34" charset="-122"/>
                <a:cs typeface="Lato" pitchFamily="34" charset="-120"/>
              </a:rPr>
              <a:t>Development using web technologies including frontend, backend, and database integration.</a:t>
            </a:r>
            <a:endParaRPr lang="en-US" sz="1750" dirty="0"/>
          </a:p>
        </p:txBody>
      </p:sp>
      <p:pic>
        <p:nvPicPr>
          <p:cNvPr id="41" name="Image 3" descr="preencoded.png">
            <a:extLst>
              <a:ext uri="{FF2B5EF4-FFF2-40B4-BE49-F238E27FC236}">
                <a16:creationId xmlns:a16="http://schemas.microsoft.com/office/drawing/2014/main" id="{02F79881-A5B6-4A3B-ADCA-8C7CB1163D0C}"/>
              </a:ext>
            </a:extLst>
          </p:cNvPr>
          <p:cNvPicPr>
            <a:picLocks noChangeAspect="1"/>
          </p:cNvPicPr>
          <p:nvPr/>
        </p:nvPicPr>
        <p:blipFill>
          <a:blip r:embed="rId6"/>
          <a:stretch>
            <a:fillRect/>
          </a:stretch>
        </p:blipFill>
        <p:spPr>
          <a:xfrm>
            <a:off x="7315200" y="3678198"/>
            <a:ext cx="6587371" cy="763667"/>
          </a:xfrm>
          <a:prstGeom prst="rect">
            <a:avLst/>
          </a:prstGeom>
        </p:spPr>
      </p:pic>
      <p:sp>
        <p:nvSpPr>
          <p:cNvPr id="42" name="Text 7">
            <a:extLst>
              <a:ext uri="{FF2B5EF4-FFF2-40B4-BE49-F238E27FC236}">
                <a16:creationId xmlns:a16="http://schemas.microsoft.com/office/drawing/2014/main" id="{52040486-4EAD-42F7-A786-2544B5DF3C25}"/>
              </a:ext>
            </a:extLst>
          </p:cNvPr>
          <p:cNvSpPr/>
          <p:nvPr/>
        </p:nvSpPr>
        <p:spPr>
          <a:xfrm>
            <a:off x="7506057" y="4602480"/>
            <a:ext cx="2386727" cy="298371"/>
          </a:xfrm>
          <a:prstGeom prst="rect">
            <a:avLst/>
          </a:prstGeom>
          <a:noFill/>
          <a:ln/>
        </p:spPr>
        <p:txBody>
          <a:bodyPr wrap="none" lIns="0" tIns="0" rIns="0" bIns="0" rtlCol="0" anchor="t"/>
          <a:lstStyle/>
          <a:p>
            <a:pPr marL="0" indent="0" algn="l">
              <a:lnSpc>
                <a:spcPts val="2300"/>
              </a:lnSpc>
              <a:buNone/>
            </a:pPr>
            <a:r>
              <a:rPr lang="en-US" sz="1850" b="1" dirty="0">
                <a:solidFill>
                  <a:srgbClr val="4A4A45"/>
                </a:solidFill>
                <a:latin typeface="Lato Bold" pitchFamily="34" charset="0"/>
                <a:ea typeface="Lato Bold" pitchFamily="34" charset="-122"/>
                <a:cs typeface="Lato Bold" pitchFamily="34" charset="-120"/>
              </a:rPr>
              <a:t>Testing and Validation</a:t>
            </a:r>
            <a:endParaRPr lang="en-US" sz="1850" dirty="0"/>
          </a:p>
        </p:txBody>
      </p:sp>
      <p:sp>
        <p:nvSpPr>
          <p:cNvPr id="43" name="Text 8">
            <a:extLst>
              <a:ext uri="{FF2B5EF4-FFF2-40B4-BE49-F238E27FC236}">
                <a16:creationId xmlns:a16="http://schemas.microsoft.com/office/drawing/2014/main" id="{544A5F53-EDF6-475F-BCE0-82789CF56848}"/>
              </a:ext>
            </a:extLst>
          </p:cNvPr>
          <p:cNvSpPr/>
          <p:nvPr/>
        </p:nvSpPr>
        <p:spPr>
          <a:xfrm>
            <a:off x="7506057" y="4997172"/>
            <a:ext cx="6205657" cy="281345"/>
          </a:xfrm>
          <a:prstGeom prst="rect">
            <a:avLst/>
          </a:prstGeom>
          <a:noFill/>
          <a:ln/>
        </p:spPr>
        <p:txBody>
          <a:bodyPr wrap="none" lIns="0" tIns="0" rIns="0" bIns="0" rtlCol="0" anchor="t"/>
          <a:lstStyle/>
          <a:p>
            <a:pPr marL="0" indent="0" algn="l">
              <a:lnSpc>
                <a:spcPts val="2200"/>
              </a:lnSpc>
              <a:buNone/>
            </a:pPr>
            <a:r>
              <a:rPr lang="en-US" sz="1750" dirty="0">
                <a:solidFill>
                  <a:srgbClr val="4A4A45"/>
                </a:solidFill>
                <a:latin typeface="Lato" pitchFamily="34" charset="0"/>
                <a:ea typeface="Lato" pitchFamily="34" charset="-122"/>
                <a:cs typeface="Lato" pitchFamily="34" charset="-120"/>
              </a:rPr>
              <a:t>Verification of system functionality, security, and performance.</a:t>
            </a:r>
            <a:endParaRPr lang="en-US" sz="1750" dirty="0"/>
          </a:p>
        </p:txBody>
      </p:sp>
      <p:pic>
        <p:nvPicPr>
          <p:cNvPr id="44" name="Image 4" descr="preencoded.png">
            <a:extLst>
              <a:ext uri="{FF2B5EF4-FFF2-40B4-BE49-F238E27FC236}">
                <a16:creationId xmlns:a16="http://schemas.microsoft.com/office/drawing/2014/main" id="{9485E5F0-5002-475F-A361-B9DB447F2226}"/>
              </a:ext>
            </a:extLst>
          </p:cNvPr>
          <p:cNvPicPr>
            <a:picLocks noChangeAspect="1"/>
          </p:cNvPicPr>
          <p:nvPr/>
        </p:nvPicPr>
        <p:blipFill>
          <a:blip r:embed="rId7"/>
          <a:stretch>
            <a:fillRect/>
          </a:stretch>
        </p:blipFill>
        <p:spPr>
          <a:xfrm>
            <a:off x="727829" y="5750719"/>
            <a:ext cx="6587371" cy="763667"/>
          </a:xfrm>
          <a:prstGeom prst="rect">
            <a:avLst/>
          </a:prstGeom>
        </p:spPr>
      </p:pic>
      <p:sp>
        <p:nvSpPr>
          <p:cNvPr id="45" name="Text 9">
            <a:extLst>
              <a:ext uri="{FF2B5EF4-FFF2-40B4-BE49-F238E27FC236}">
                <a16:creationId xmlns:a16="http://schemas.microsoft.com/office/drawing/2014/main" id="{5388912A-9CF4-402F-A609-FAE2C5E8670A}"/>
              </a:ext>
            </a:extLst>
          </p:cNvPr>
          <p:cNvSpPr/>
          <p:nvPr/>
        </p:nvSpPr>
        <p:spPr>
          <a:xfrm>
            <a:off x="918686" y="6675001"/>
            <a:ext cx="2951917" cy="298371"/>
          </a:xfrm>
          <a:prstGeom prst="rect">
            <a:avLst/>
          </a:prstGeom>
          <a:noFill/>
          <a:ln/>
        </p:spPr>
        <p:txBody>
          <a:bodyPr wrap="none" lIns="0" tIns="0" rIns="0" bIns="0" rtlCol="0" anchor="t"/>
          <a:lstStyle/>
          <a:p>
            <a:pPr marL="0" indent="0" algn="l">
              <a:lnSpc>
                <a:spcPts val="2300"/>
              </a:lnSpc>
              <a:buNone/>
            </a:pPr>
            <a:r>
              <a:rPr lang="en-US" sz="1850" b="1" dirty="0">
                <a:solidFill>
                  <a:srgbClr val="4A4A45"/>
                </a:solidFill>
                <a:latin typeface="Lato Bold" pitchFamily="34" charset="0"/>
                <a:ea typeface="Lato Bold" pitchFamily="34" charset="-122"/>
                <a:cs typeface="Lato Bold" pitchFamily="34" charset="-120"/>
              </a:rPr>
              <a:t>Deployment and Evaluation</a:t>
            </a:r>
            <a:endParaRPr lang="en-US" sz="1850" dirty="0"/>
          </a:p>
        </p:txBody>
      </p:sp>
      <p:sp>
        <p:nvSpPr>
          <p:cNvPr id="46" name="Text 10">
            <a:extLst>
              <a:ext uri="{FF2B5EF4-FFF2-40B4-BE49-F238E27FC236}">
                <a16:creationId xmlns:a16="http://schemas.microsoft.com/office/drawing/2014/main" id="{3241B056-8C19-4400-8B6C-ED520EC51C34}"/>
              </a:ext>
            </a:extLst>
          </p:cNvPr>
          <p:cNvSpPr/>
          <p:nvPr/>
        </p:nvSpPr>
        <p:spPr>
          <a:xfrm>
            <a:off x="918686" y="7069693"/>
            <a:ext cx="6205657" cy="281345"/>
          </a:xfrm>
          <a:prstGeom prst="rect">
            <a:avLst/>
          </a:prstGeom>
          <a:noFill/>
          <a:ln/>
        </p:spPr>
        <p:txBody>
          <a:bodyPr wrap="none" lIns="0" tIns="0" rIns="0" bIns="0" rtlCol="0" anchor="t"/>
          <a:lstStyle/>
          <a:p>
            <a:pPr marL="0" indent="0" algn="l">
              <a:lnSpc>
                <a:spcPts val="2200"/>
              </a:lnSpc>
              <a:buNone/>
            </a:pPr>
            <a:r>
              <a:rPr lang="en-US" sz="1750" dirty="0">
                <a:solidFill>
                  <a:srgbClr val="4A4A45"/>
                </a:solidFill>
                <a:latin typeface="Lato" pitchFamily="34" charset="0"/>
                <a:ea typeface="Lato" pitchFamily="34" charset="-122"/>
                <a:cs typeface="Lato" pitchFamily="34" charset="-120"/>
              </a:rPr>
              <a:t>System demonstration and performance assessment.</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798677"/>
            <a:ext cx="5670590" cy="708779"/>
          </a:xfrm>
          <a:prstGeom prst="rect">
            <a:avLst/>
          </a:prstGeom>
          <a:noFill/>
          <a:ln/>
        </p:spPr>
        <p:txBody>
          <a:bodyPr wrap="none" lIns="0" tIns="0" rIns="0" bIns="0" rtlCol="0" anchor="t"/>
          <a:lstStyle/>
          <a:p>
            <a:pPr marL="0" indent="0" algn="l">
              <a:lnSpc>
                <a:spcPts val="5550"/>
              </a:lnSpc>
              <a:buNone/>
            </a:pPr>
            <a:r>
              <a:rPr lang="en-US" sz="4450" b="1" dirty="0">
                <a:solidFill>
                  <a:schemeClr val="tx1">
                    <a:lumMod val="65000"/>
                    <a:lumOff val="35000"/>
                  </a:schemeClr>
                </a:solidFill>
                <a:latin typeface="Lato Bold" pitchFamily="34" charset="0"/>
                <a:ea typeface="Lato Bold" pitchFamily="34" charset="-122"/>
                <a:cs typeface="Lato Bold" pitchFamily="34" charset="-120"/>
              </a:rPr>
              <a:t>Conclusion</a:t>
            </a:r>
            <a:endParaRPr lang="en-US" sz="4450" dirty="0">
              <a:solidFill>
                <a:schemeClr val="tx1">
                  <a:lumMod val="65000"/>
                  <a:lumOff val="35000"/>
                </a:schemeClr>
              </a:solidFill>
            </a:endParaRPr>
          </a:p>
        </p:txBody>
      </p:sp>
      <p:sp>
        <p:nvSpPr>
          <p:cNvPr id="4" name="Text 1"/>
          <p:cNvSpPr/>
          <p:nvPr/>
        </p:nvSpPr>
        <p:spPr>
          <a:xfrm>
            <a:off x="793790" y="2847618"/>
            <a:ext cx="7556421" cy="3583305"/>
          </a:xfrm>
          <a:prstGeom prst="rect">
            <a:avLst/>
          </a:prstGeom>
          <a:noFill/>
          <a:ln/>
        </p:spPr>
        <p:txBody>
          <a:bodyPr wrap="square" lIns="0" tIns="0" rIns="0" bIns="0" rtlCol="0" anchor="t"/>
          <a:lstStyle/>
          <a:p>
            <a:pPr marL="342900" indent="-342900" algn="l">
              <a:lnSpc>
                <a:spcPts val="2850"/>
              </a:lnSpc>
              <a:buSzPct val="100000"/>
              <a:buFont typeface="+mj-lt"/>
              <a:buAutoNum type="arabicPeriod"/>
            </a:pPr>
            <a:r>
              <a:rPr lang="en-US" sz="1750" dirty="0">
                <a:solidFill>
                  <a:srgbClr val="4A4A45"/>
                </a:solidFill>
                <a:latin typeface="Lato" pitchFamily="34" charset="0"/>
                <a:ea typeface="Lato" pitchFamily="34" charset="-122"/>
                <a:cs typeface="Lato" pitchFamily="34" charset="-120"/>
              </a:rPr>
              <a:t>BookLoop is a web-based platform designed to organize the buying, selling, and exchange of second-hand books.</a:t>
            </a:r>
            <a:endParaRPr lang="en-US" sz="1750" dirty="0"/>
          </a:p>
          <a:p>
            <a:pPr marL="342900" indent="-342900" algn="l">
              <a:lnSpc>
                <a:spcPts val="2850"/>
              </a:lnSpc>
              <a:buSzPct val="100000"/>
              <a:buFont typeface="+mj-lt"/>
              <a:buAutoNum type="arabicPeriod" startAt="2"/>
            </a:pPr>
            <a:r>
              <a:rPr lang="en-US" sz="1750" dirty="0">
                <a:solidFill>
                  <a:srgbClr val="4A4A45"/>
                </a:solidFill>
                <a:latin typeface="Lato" pitchFamily="34" charset="0"/>
                <a:ea typeface="Lato" pitchFamily="34" charset="-122"/>
                <a:cs typeface="Lato" pitchFamily="34" charset="-120"/>
              </a:rPr>
              <a:t>The system reduces the high cost of new books by providing affordable alternatives.</a:t>
            </a:r>
            <a:endParaRPr lang="en-US" sz="1750" dirty="0"/>
          </a:p>
          <a:p>
            <a:pPr marL="342900" indent="-342900" algn="l">
              <a:lnSpc>
                <a:spcPts val="2850"/>
              </a:lnSpc>
              <a:buSzPct val="100000"/>
              <a:buFont typeface="+mj-lt"/>
              <a:buAutoNum type="arabicPeriod" startAt="3"/>
            </a:pPr>
            <a:r>
              <a:rPr lang="en-US" sz="1750" dirty="0">
                <a:solidFill>
                  <a:srgbClr val="4A4A45"/>
                </a:solidFill>
                <a:latin typeface="Lato" pitchFamily="34" charset="0"/>
                <a:ea typeface="Lato" pitchFamily="34" charset="-122"/>
                <a:cs typeface="Lato" pitchFamily="34" charset="-120"/>
              </a:rPr>
              <a:t>An admin-mediated exchange process ensures efficient and proper book matching.</a:t>
            </a:r>
            <a:endParaRPr lang="en-US" sz="1750" dirty="0"/>
          </a:p>
          <a:p>
            <a:pPr marL="342900" indent="-342900" algn="l">
              <a:lnSpc>
                <a:spcPts val="2850"/>
              </a:lnSpc>
              <a:buSzPct val="100000"/>
              <a:buFont typeface="+mj-lt"/>
              <a:buAutoNum type="arabicPeriod" startAt="4"/>
            </a:pPr>
            <a:r>
              <a:rPr lang="en-US" sz="1750" dirty="0">
                <a:solidFill>
                  <a:srgbClr val="4A4A45"/>
                </a:solidFill>
                <a:latin typeface="Lato" pitchFamily="34" charset="0"/>
                <a:ea typeface="Lato" pitchFamily="34" charset="-122"/>
                <a:cs typeface="Lato" pitchFamily="34" charset="-120"/>
              </a:rPr>
              <a:t>The platform helps prevent underutilization of usable books.</a:t>
            </a:r>
            <a:endParaRPr lang="en-US" sz="1750" dirty="0"/>
          </a:p>
          <a:p>
            <a:pPr marL="342900" indent="-342900" algn="l">
              <a:lnSpc>
                <a:spcPts val="2850"/>
              </a:lnSpc>
              <a:buSzPct val="100000"/>
              <a:buFont typeface="+mj-lt"/>
              <a:buAutoNum type="arabicPeriod" startAt="5"/>
            </a:pPr>
            <a:r>
              <a:rPr lang="en-US" sz="1750" dirty="0">
                <a:solidFill>
                  <a:srgbClr val="4A4A45"/>
                </a:solidFill>
                <a:latin typeface="Lato" pitchFamily="34" charset="0"/>
                <a:ea typeface="Lato" pitchFamily="34" charset="-122"/>
                <a:cs typeface="Lato" pitchFamily="34" charset="-120"/>
              </a:rPr>
              <a:t>BookLoop supports sustainability and improves access to educational resources</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479846" y="3227427"/>
            <a:ext cx="5670590" cy="708779"/>
          </a:xfrm>
          <a:prstGeom prst="rect">
            <a:avLst/>
          </a:prstGeom>
          <a:noFill/>
          <a:ln/>
        </p:spPr>
        <p:txBody>
          <a:bodyPr wrap="none" lIns="0" tIns="0" rIns="0" bIns="0" rtlCol="0" anchor="t"/>
          <a:lstStyle/>
          <a:p>
            <a:pPr marL="0" indent="0" algn="ctr">
              <a:lnSpc>
                <a:spcPts val="5550"/>
              </a:lnSpc>
              <a:buNone/>
            </a:pPr>
            <a:r>
              <a:rPr lang="en-US" sz="4450" b="1" dirty="0">
                <a:solidFill>
                  <a:schemeClr val="tx1">
                    <a:lumMod val="65000"/>
                    <a:lumOff val="35000"/>
                  </a:schemeClr>
                </a:solidFill>
                <a:latin typeface="Lato Bold" pitchFamily="34" charset="0"/>
                <a:ea typeface="Lato Bold" pitchFamily="34" charset="-122"/>
                <a:cs typeface="Lato Bold" pitchFamily="34" charset="-120"/>
              </a:rPr>
              <a:t>Thank You!</a:t>
            </a:r>
            <a:endParaRPr lang="en-US" sz="4450" dirty="0">
              <a:solidFill>
                <a:schemeClr val="tx1">
                  <a:lumMod val="65000"/>
                  <a:lumOff val="35000"/>
                </a:schemeClr>
              </a:solidFill>
            </a:endParaRPr>
          </a:p>
        </p:txBody>
      </p:sp>
      <p:sp>
        <p:nvSpPr>
          <p:cNvPr id="3" name="Text 1"/>
          <p:cNvSpPr/>
          <p:nvPr/>
        </p:nvSpPr>
        <p:spPr>
          <a:xfrm>
            <a:off x="793790" y="4276368"/>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We extend our heartfelt gratitude for your time and attention today. We are confident that BookLoop will bring significant value to thrift book communities by making knowledge more accessible and promoting sustainability.</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458</Words>
  <Application>Microsoft Office PowerPoint</Application>
  <PresentationFormat>Custom</PresentationFormat>
  <Paragraphs>71</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Calibri</vt:lpstr>
      <vt:lpstr>Lato</vt:lpstr>
      <vt:lpstr>Arial</vt:lpstr>
      <vt:lpstr>Lato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USER</dc:creator>
  <cp:lastModifiedBy>Sí á</cp:lastModifiedBy>
  <cp:revision>6</cp:revision>
  <dcterms:created xsi:type="dcterms:W3CDTF">2026-02-24T18:09:18Z</dcterms:created>
  <dcterms:modified xsi:type="dcterms:W3CDTF">2026-02-25T14:52:56Z</dcterms:modified>
</cp:coreProperties>
</file>